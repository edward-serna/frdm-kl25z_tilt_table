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4" r:id="rId3"/>
    <p:sldId id="288" r:id="rId4"/>
    <p:sldId id="287" r:id="rId5"/>
    <p:sldId id="280" r:id="rId6"/>
    <p:sldId id="282" r:id="rId7"/>
    <p:sldId id="281" r:id="rId8"/>
    <p:sldId id="284" r:id="rId9"/>
    <p:sldId id="292" r:id="rId10"/>
    <p:sldId id="258" r:id="rId11"/>
    <p:sldId id="257" r:id="rId12"/>
    <p:sldId id="259" r:id="rId13"/>
    <p:sldId id="260" r:id="rId14"/>
    <p:sldId id="267" r:id="rId15"/>
    <p:sldId id="278" r:id="rId16"/>
    <p:sldId id="268" r:id="rId17"/>
    <p:sldId id="273" r:id="rId18"/>
    <p:sldId id="274" r:id="rId19"/>
    <p:sldId id="276" r:id="rId20"/>
    <p:sldId id="277" r:id="rId21"/>
    <p:sldId id="295" r:id="rId22"/>
    <p:sldId id="285" r:id="rId23"/>
    <p:sldId id="289" r:id="rId24"/>
    <p:sldId id="286" r:id="rId25"/>
    <p:sldId id="303" r:id="rId26"/>
    <p:sldId id="297" r:id="rId27"/>
    <p:sldId id="298" r:id="rId28"/>
    <p:sldId id="302" r:id="rId29"/>
    <p:sldId id="299" r:id="rId30"/>
    <p:sldId id="300" r:id="rId31"/>
    <p:sldId id="301" r:id="rId32"/>
    <p:sldId id="29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6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76A690A-9352-4B89-BC4C-8E675DB0F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22A9459-D3A7-4FDA-B6C3-E46FF524D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9208F5B-DD7B-4EC7-9011-3FABE441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E337-2377-451D-820E-2EEF61FBF0C2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2789447-7332-4D53-8F53-BFAABD5F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E4708D8-E924-405A-8E14-9085E2B3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2A13B-F621-43B3-A770-EAD23560E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5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60F3F4-D37D-48E5-87AA-4D744A31F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E3200C-D81B-422E-987D-A37AC7AC7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0BF50C9-C01F-4EE8-95C2-D812337D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E337-2377-451D-820E-2EEF61FBF0C2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7EAC8B3-5F2A-4B02-BC19-839C9B7D9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D2DFFCE-F22E-486C-8B8B-E61C59A3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2A13B-F621-43B3-A770-EAD23560E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98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09A28B-45FC-4F44-B450-B5A747343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A64FB1C-3707-4ED6-A16A-6D4457467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B80029D-6F18-4F08-87E5-DC45882C9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E337-2377-451D-820E-2EEF61FBF0C2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0307ED5-4CB3-4F6B-B05D-0525F5EC7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465FEAC-DE04-4E10-8BE2-E5284C8E4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2A13B-F621-43B3-A770-EAD23560E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92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509794-30F6-404B-8E89-CF4B7BE1B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7C09455-D088-4188-BD16-45C59778BD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F43FBE2-324A-47A6-9D91-8169A9FC7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2C9F77D-4204-4294-AD97-6EE4A6977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E337-2377-451D-820E-2EEF61FBF0C2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5D682B5-336C-4D6A-B75E-E1ECA36C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941ABC4-D520-44B5-84B1-83CD75A40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2A13B-F621-43B3-A770-EAD23560E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41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0BCBE7-6D75-46DF-B693-900FF67F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58D57D9-10D7-41D0-9744-546EE2A42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A5F04ED-784A-47D6-85AA-928F570A0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890212B-EBA8-4B21-A4E8-CCA8D2E595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3CE7CD8-33C7-41AD-8431-6614D2EF2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E7589D82-1F21-4E00-BCAB-7820FCF9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E337-2377-451D-820E-2EEF61FBF0C2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E1B889E3-4B93-4E14-BFBA-EEA5728D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16283A44-C175-4BC6-A290-3C7DBA085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2A13B-F621-43B3-A770-EAD23560E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3DE6F4-2AA7-412F-91F9-E7E086D8B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4A82D0E-8D83-415C-96A9-0D9FB2F4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E337-2377-451D-820E-2EEF61FBF0C2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2F5011F-0B6C-4FB1-87DE-F1A33EE0D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E20233B-CE32-4C9D-95F0-17CA7477C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2A13B-F621-43B3-A770-EAD23560E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35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3B2E8B82-CEDA-429E-85D6-66DD728D0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E337-2377-451D-820E-2EEF61FBF0C2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70541BCA-C6AB-4953-ADD0-81FFC61ED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E9D7027-6520-410B-9074-B7D2E8F8A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2A13B-F621-43B3-A770-EAD23560E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49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EE06EF-D357-4850-8FF9-494A7EF03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2991400-CB5B-46B1-B339-BEA0C6A3E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BC23175-03CD-43D6-A3C0-D1C316694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A5DC1D1-BA9D-467E-BA09-2499E5EAD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E337-2377-451D-820E-2EEF61FBF0C2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E61A482-BAE8-4E29-A322-3B8C044B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E67D7DB-F516-43EF-92E1-438F0DCF9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2A13B-F621-43B3-A770-EAD23560E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76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B1CD50-946F-467D-8400-C1A097455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7392451D-C6D7-4D30-8B5A-2CE4B49D9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0C9984D-879F-489F-878A-E85E81EB7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9601F1D-8CC7-4F7A-8F2F-CD0FA27C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E337-2377-451D-820E-2EEF61FBF0C2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26E69D7-4832-4FA0-89BC-1168EB0B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0370AE5-69DF-4B28-BBCF-37072A532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2A13B-F621-43B3-A770-EAD23560E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3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823AA1-9AB4-4E9F-9669-2EE064D1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B0D6778-BCC5-4647-B840-901F2C3E8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2234B14-EA47-495B-9B13-4AB2E6E17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E337-2377-451D-820E-2EEF61FBF0C2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A0C4294-C62E-4276-9459-5BDF17EDB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902E883-546F-45B3-B939-1ACB93C72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2A13B-F621-43B3-A770-EAD23560E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10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2FD90ACC-286F-4F41-A850-67570A50B9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D89B2C3-4E89-4B09-B58B-DDD85B1DD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D09DBDD-7268-45F9-B728-C825CBB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E337-2377-451D-820E-2EEF61FBF0C2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0A4FA8A-F651-41FC-BED6-B165E939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7201010-F3A9-48D3-93FD-F2D464AB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2A13B-F621-43B3-A770-EAD23560E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81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BA397CA-8238-4BE7-834A-E7379BDD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8C9ACA7-45DA-4558-90E8-AF74D7730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9F7F663-DBFE-4E50-970C-E9E23EBAF1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0E337-2377-451D-820E-2EEF61FBF0C2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A40E058-055A-4C6B-8FAC-86E0D2E5A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C1608B7-3163-4988-AF6C-9C48BB5D9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2A13B-F621-43B3-A770-EAD23560E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41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mailto:bob@applonie.ne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C36571-3D86-40D5-93A2-5D978E4892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Control for the Tilt Table and Cup Car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F3EB692-E35F-42BB-ADEE-01E9D0BD79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Microcomputer Systems II</a:t>
            </a:r>
          </a:p>
        </p:txBody>
      </p:sp>
    </p:spTree>
    <p:extLst>
      <p:ext uri="{BB962C8B-B14F-4D97-AF65-F5344CB8AC3E}">
        <p14:creationId xmlns:p14="http://schemas.microsoft.com/office/powerpoint/2010/main" val="2458957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52C9676-C324-476F-B01F-599F51FA6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EDF9FC5-50C4-4CED-A4D8-8A0690638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Calibrating the touch </a:t>
            </a:r>
            <a:r>
              <a:rPr lang="en-US" dirty="0" smtClean="0"/>
              <a:t>panel</a:t>
            </a:r>
          </a:p>
          <a:p>
            <a:pPr lvl="1"/>
            <a:r>
              <a:rPr lang="en-US" dirty="0" smtClean="0"/>
              <a:t>Cover the linear algebra</a:t>
            </a:r>
            <a:endParaRPr lang="en-US" dirty="0"/>
          </a:p>
          <a:p>
            <a:r>
              <a:rPr lang="en-US" dirty="0"/>
              <a:t>PID Control for the tilt </a:t>
            </a:r>
            <a:r>
              <a:rPr lang="en-US" dirty="0" smtClean="0"/>
              <a:t>table</a:t>
            </a:r>
          </a:p>
          <a:p>
            <a:pPr lvl="1"/>
            <a:r>
              <a:rPr lang="en-US" dirty="0" smtClean="0"/>
              <a:t>Brief introduction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7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1FB1EB6A-890E-4A28-A955-DB73F469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Calibrating the Touch Panel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C752DBC-23D5-4BD0-BC31-F02865446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70059" cy="4351338"/>
          </a:xfrm>
        </p:spPr>
        <p:txBody>
          <a:bodyPr/>
          <a:lstStyle/>
          <a:p>
            <a:r>
              <a:rPr lang="en-US" dirty="0"/>
              <a:t>Physically measure a number of points on the </a:t>
            </a:r>
            <a:r>
              <a:rPr lang="en-US" dirty="0" smtClean="0"/>
              <a:t>panel (Arbitrary &gt;=3)</a:t>
            </a:r>
            <a:endParaRPr lang="en-US" dirty="0"/>
          </a:p>
          <a:p>
            <a:pPr lvl="1"/>
            <a:r>
              <a:rPr lang="en-US" dirty="0"/>
              <a:t>Center of touch panel. This is also useful for calibrating the servos.</a:t>
            </a:r>
          </a:p>
          <a:p>
            <a:pPr lvl="1"/>
            <a:r>
              <a:rPr lang="en-US" dirty="0"/>
              <a:t>Four </a:t>
            </a:r>
            <a:r>
              <a:rPr lang="en-US" dirty="0" smtClean="0"/>
              <a:t>corners </a:t>
            </a:r>
            <a:r>
              <a:rPr lang="en-US" dirty="0"/>
              <a:t>approximately </a:t>
            </a:r>
            <a:r>
              <a:rPr lang="en-US" dirty="0" smtClean="0"/>
              <a:t>2% </a:t>
            </a:r>
            <a:r>
              <a:rPr lang="en-US" dirty="0"/>
              <a:t>inside of each </a:t>
            </a:r>
            <a:r>
              <a:rPr lang="en-US" dirty="0" smtClean="0"/>
              <a:t>edge because edges don’t sense.</a:t>
            </a:r>
            <a:endParaRPr lang="en-US" dirty="0"/>
          </a:p>
          <a:p>
            <a:pPr lvl="1"/>
            <a:r>
              <a:rPr lang="en-US" dirty="0" smtClean="0"/>
              <a:t>Mid-points of each side.</a:t>
            </a:r>
            <a:endParaRPr lang="en-US" dirty="0"/>
          </a:p>
          <a:p>
            <a:pPr lvl="1"/>
            <a:r>
              <a:rPr lang="en-US" dirty="0" smtClean="0"/>
              <a:t>Must have 3 points but at </a:t>
            </a:r>
            <a:r>
              <a:rPr lang="en-US" dirty="0"/>
              <a:t>least nine points are suggested.</a:t>
            </a:r>
          </a:p>
          <a:p>
            <a:pPr lvl="1"/>
            <a:endParaRPr lang="en-US" dirty="0"/>
          </a:p>
          <a:p>
            <a:r>
              <a:rPr lang="en-US" dirty="0"/>
              <a:t>Get a voltage reading (x, y) for each point.</a:t>
            </a:r>
          </a:p>
          <a:p>
            <a:endParaRPr lang="en-US" dirty="0"/>
          </a:p>
          <a:p>
            <a:r>
              <a:rPr lang="en-US" dirty="0"/>
              <a:t>Two lists of (x, y) points: </a:t>
            </a:r>
            <a:r>
              <a:rPr lang="en-US" dirty="0" smtClean="0"/>
              <a:t>Idealized </a:t>
            </a:r>
            <a:r>
              <a:rPr lang="en-US" dirty="0"/>
              <a:t>and (electrically) measured.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0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5026339-9330-4EEC-8E82-1063A2889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Algebra Is Your Friend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="" xmlns:a16="http://schemas.microsoft.com/office/drawing/2014/main" id="{522D3CA2-D8E8-4899-9505-C926EB934B08}"/>
                  </a:ext>
                </a:extLst>
              </p:cNvPr>
              <p:cNvSpPr txBox="1"/>
              <p:nvPr/>
            </p:nvSpPr>
            <p:spPr>
              <a:xfrm>
                <a:off x="1803400" y="1690688"/>
                <a:ext cx="8382000" cy="5035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Equation of a line in one dimension (slope-intercept form):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System of equations using linear algebra: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r>
                  <a:rPr lang="en-US" b="0" dirty="0"/>
                  <a:t>What if </a:t>
                </a:r>
                <a: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b="0" dirty="0"/>
                  <a:t> is not invertible?</a:t>
                </a: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0" dirty="0"/>
                  <a:t> is always square and invertible, so pre-multiply both sides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b="0" dirty="0"/>
                  <a:t>, then solve 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b="0" dirty="0"/>
              </a:p>
              <a:p>
                <a:endParaRPr lang="en-US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b="0" dirty="0"/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en-US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2D3CA2-D8E8-4899-9505-C926EB934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400" y="1690688"/>
                <a:ext cx="8382000" cy="5035609"/>
              </a:xfrm>
              <a:prstGeom prst="rect">
                <a:avLst/>
              </a:prstGeom>
              <a:blipFill>
                <a:blip r:embed="rId2"/>
                <a:stretch>
                  <a:fillRect l="-655" t="-605" r="-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="" xmlns:a16="http://schemas.microsoft.com/office/drawing/2014/main" id="{032283A4-C435-49A6-8E65-06866B661F37}"/>
              </a:ext>
            </a:extLst>
          </p:cNvPr>
          <p:cNvCxnSpPr/>
          <p:nvPr/>
        </p:nvCxnSpPr>
        <p:spPr>
          <a:xfrm flipV="1">
            <a:off x="5453695" y="5969435"/>
            <a:ext cx="278296" cy="34455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72BB5F55-0AFE-4D61-B317-4703B3ACE548}"/>
              </a:ext>
            </a:extLst>
          </p:cNvPr>
          <p:cNvCxnSpPr/>
          <p:nvPr/>
        </p:nvCxnSpPr>
        <p:spPr>
          <a:xfrm flipV="1">
            <a:off x="4692799" y="5969434"/>
            <a:ext cx="278296" cy="34455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04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8472AA4-9D6B-4F74-B128-F7B44C6C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="" xmlns:a16="http://schemas.microsoft.com/office/drawing/2014/main" id="{6A63E1B3-61B7-4EF4-B7B8-17C0647A7D69}"/>
                  </a:ext>
                </a:extLst>
              </p:cNvPr>
              <p:cNvSpPr txBox="1"/>
              <p:nvPr/>
            </p:nvSpPr>
            <p:spPr>
              <a:xfrm>
                <a:off x="2168076" y="2858758"/>
                <a:ext cx="2953488" cy="2452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266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−533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1243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470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625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−542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607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528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−633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−410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−662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532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−1277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−409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−1305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562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63E1B3-61B7-4EF4-B7B8-17C0647A7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076" y="2858758"/>
                <a:ext cx="2953488" cy="2452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B0F12522-ABA4-46A4-BC56-0942065875FF}"/>
                  </a:ext>
                </a:extLst>
              </p:cNvPr>
              <p:cNvSpPr txBox="1"/>
              <p:nvPr/>
            </p:nvSpPr>
            <p:spPr>
              <a:xfrm>
                <a:off x="5223163" y="2864335"/>
                <a:ext cx="1828800" cy="2447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−57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−57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−117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−117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F12522-ABA4-46A4-BC56-094206587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163" y="2864335"/>
                <a:ext cx="1828800" cy="24470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F3515CDD-A082-4D78-A467-EF60E710CD70}"/>
                  </a:ext>
                </a:extLst>
              </p:cNvPr>
              <p:cNvSpPr txBox="1"/>
              <p:nvPr/>
            </p:nvSpPr>
            <p:spPr>
              <a:xfrm>
                <a:off x="7364020" y="2864335"/>
                <a:ext cx="1698171" cy="2447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−31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−31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−31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515CDD-A082-4D78-A467-EF60E710C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020" y="2864335"/>
                <a:ext cx="1698171" cy="24470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26AB048-8195-4873-8A20-A99C94EF1BC7}"/>
              </a:ext>
            </a:extLst>
          </p:cNvPr>
          <p:cNvSpPr txBox="1"/>
          <p:nvPr/>
        </p:nvSpPr>
        <p:spPr>
          <a:xfrm>
            <a:off x="1640114" y="2090057"/>
            <a:ext cx="902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Actual point is (118, -31) and the sensor (after centering) reads: (1266, -533):</a:t>
            </a:r>
          </a:p>
        </p:txBody>
      </p:sp>
    </p:spTree>
    <p:extLst>
      <p:ext uri="{BB962C8B-B14F-4D97-AF65-F5344CB8AC3E}">
        <p14:creationId xmlns:p14="http://schemas.microsoft.com/office/powerpoint/2010/main" val="1107218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1F4598-1A9C-4185-BA90-E43277ED5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(cont.)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8AD16E1-0B60-4352-BCA4-DE4714806394}"/>
              </a:ext>
            </a:extLst>
          </p:cNvPr>
          <p:cNvSpPr txBox="1"/>
          <p:nvPr/>
        </p:nvSpPr>
        <p:spPr>
          <a:xfrm>
            <a:off x="7368427" y="1758068"/>
            <a:ext cx="315685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MATLAB Commands:</a:t>
            </a:r>
          </a:p>
          <a:p>
            <a:endParaRPr lang="en-US" dirty="0"/>
          </a:p>
          <a:p>
            <a:pPr lvl="1"/>
            <a:r>
              <a:rPr lang="en-US" dirty="0"/>
              <a:t>f = inv(A'*A)*A’*x</a:t>
            </a:r>
          </a:p>
          <a:p>
            <a:pPr lvl="1"/>
            <a:r>
              <a:rPr lang="en-US" dirty="0"/>
              <a:t>f =</a:t>
            </a:r>
          </a:p>
          <a:p>
            <a:pPr lvl="1"/>
            <a:r>
              <a:rPr lang="en-US" dirty="0"/>
              <a:t>    0.0922</a:t>
            </a:r>
          </a:p>
          <a:p>
            <a:pPr lvl="1"/>
            <a:r>
              <a:rPr lang="en-US" dirty="0"/>
              <a:t>    0.0023</a:t>
            </a:r>
          </a:p>
          <a:p>
            <a:pPr lvl="1"/>
            <a:r>
              <a:rPr lang="en-US" dirty="0"/>
              <a:t>    1.7871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g = inv(A'*A)*A’*y</a:t>
            </a:r>
          </a:p>
          <a:p>
            <a:pPr lvl="1"/>
            <a:r>
              <a:rPr lang="en-US" dirty="0"/>
              <a:t>g =</a:t>
            </a:r>
          </a:p>
          <a:p>
            <a:pPr lvl="1"/>
            <a:r>
              <a:rPr lang="en-US" dirty="0"/>
              <a:t>    0.0030</a:t>
            </a:r>
          </a:p>
          <a:p>
            <a:pPr lvl="1"/>
            <a:r>
              <a:rPr lang="en-US" dirty="0"/>
              <a:t>    0.0661</a:t>
            </a:r>
          </a:p>
          <a:p>
            <a:pPr lvl="1"/>
            <a:r>
              <a:rPr lang="en-US" dirty="0"/>
              <a:t>    0.3671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C06FE51D-890E-4CA9-A80F-8AC7D65E476B}"/>
                  </a:ext>
                </a:extLst>
              </p:cNvPr>
              <p:cNvSpPr txBox="1"/>
              <p:nvPr/>
            </p:nvSpPr>
            <p:spPr>
              <a:xfrm>
                <a:off x="734291" y="1758068"/>
                <a:ext cx="3297382" cy="1949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Compute transformation formula as follows:</a:t>
                </a:r>
              </a:p>
              <a:p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6FE51D-890E-4CA9-A80F-8AC7D65E4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91" y="1758068"/>
                <a:ext cx="3297382" cy="1949829"/>
              </a:xfrm>
              <a:prstGeom prst="rect">
                <a:avLst/>
              </a:prstGeom>
              <a:blipFill>
                <a:blip r:embed="rId2"/>
                <a:stretch>
                  <a:fillRect l="-1479" t="-1563" r="-2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C44091B8-5336-4B08-B9A0-F6D4AD0FDE42}"/>
                  </a:ext>
                </a:extLst>
              </p:cNvPr>
              <p:cNvSpPr txBox="1"/>
              <p:nvPr/>
            </p:nvSpPr>
            <p:spPr>
              <a:xfrm>
                <a:off x="418993" y="3540389"/>
                <a:ext cx="3003259" cy="2729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i="1" dirty="0">
                                    <a:latin typeface="Cambria Math" panose="02040503050406030204" pitchFamily="18" charset="0"/>
                                  </a:rPr>
                                  <m:t>1266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−533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1243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470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625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−542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607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528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−633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−410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−662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532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−1277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−409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−1305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562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4091B8-5336-4B08-B9A0-F6D4AD0FD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93" y="3540389"/>
                <a:ext cx="3003259" cy="27295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97E39951-89F3-47D4-950D-D9B90304BAA2}"/>
                  </a:ext>
                </a:extLst>
              </p:cNvPr>
              <p:cNvSpPr txBox="1"/>
              <p:nvPr/>
            </p:nvSpPr>
            <p:spPr>
              <a:xfrm>
                <a:off x="3419641" y="3537650"/>
                <a:ext cx="1711354" cy="2448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−57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−57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−117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−117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E39951-89F3-47D4-950D-D9B90304B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641" y="3537650"/>
                <a:ext cx="1711354" cy="24488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63EA1DF9-BD59-4D5F-BFB8-01C4A7E74ED2}"/>
                  </a:ext>
                </a:extLst>
              </p:cNvPr>
              <p:cNvSpPr txBox="1"/>
              <p:nvPr/>
            </p:nvSpPr>
            <p:spPr>
              <a:xfrm>
                <a:off x="5130995" y="3537650"/>
                <a:ext cx="1711354" cy="2447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−31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−31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−31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EA1DF9-BD59-4D5F-BFB8-01C4A7E74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995" y="3537650"/>
                <a:ext cx="1711354" cy="24470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="" xmlns:a16="http://schemas.microsoft.com/office/drawing/2014/main" id="{C789AB62-E34C-428E-BFB1-68AD75CC4A6D}"/>
              </a:ext>
            </a:extLst>
          </p:cNvPr>
          <p:cNvSpPr/>
          <p:nvPr/>
        </p:nvSpPr>
        <p:spPr>
          <a:xfrm>
            <a:off x="8017565" y="3429000"/>
            <a:ext cx="848139" cy="2788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="" xmlns:a16="http://schemas.microsoft.com/office/drawing/2014/main" id="{EE9FA1A9-67C8-4B23-AE3F-DC32920B52AA}"/>
              </a:ext>
            </a:extLst>
          </p:cNvPr>
          <p:cNvSpPr/>
          <p:nvPr/>
        </p:nvSpPr>
        <p:spPr>
          <a:xfrm>
            <a:off x="8022643" y="5099932"/>
            <a:ext cx="848139" cy="2788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0B254AF-57A5-4E11-92C5-1BE993329031}"/>
              </a:ext>
            </a:extLst>
          </p:cNvPr>
          <p:cNvSpPr txBox="1"/>
          <p:nvPr/>
        </p:nvSpPr>
        <p:spPr>
          <a:xfrm>
            <a:off x="9918821" y="3208055"/>
            <a:ext cx="2140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You can adjust these two values without redoing the whole calculation to re-center the panel calibration.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7E2978EE-986F-4638-A742-AC784A5044E3}"/>
              </a:ext>
            </a:extLst>
          </p:cNvPr>
          <p:cNvCxnSpPr>
            <a:cxnSpLocks/>
          </p:cNvCxnSpPr>
          <p:nvPr/>
        </p:nvCxnSpPr>
        <p:spPr>
          <a:xfrm flipH="1" flipV="1">
            <a:off x="8865705" y="3537650"/>
            <a:ext cx="1053116" cy="1702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AE97D8B7-9C92-4E91-A584-52C8BCACE4E2}"/>
              </a:ext>
            </a:extLst>
          </p:cNvPr>
          <p:cNvCxnSpPr>
            <a:stCxn id="4" idx="1"/>
          </p:cNvCxnSpPr>
          <p:nvPr/>
        </p:nvCxnSpPr>
        <p:spPr>
          <a:xfrm flipH="1">
            <a:off x="8865704" y="4085218"/>
            <a:ext cx="1053117" cy="12067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36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C73C11F-979F-40AF-9DF7-595591F2A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Calibration Transform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424A59-53A5-4E90-978E-90FF6A3F3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98" y="1750274"/>
            <a:ext cx="6810302" cy="51077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DEE6700E-D26B-438D-A8AC-A3E6F62C8DD1}"/>
                  </a:ext>
                </a:extLst>
              </p:cNvPr>
              <p:cNvSpPr txBox="1"/>
              <p:nvPr/>
            </p:nvSpPr>
            <p:spPr>
              <a:xfrm>
                <a:off x="343312" y="1895048"/>
                <a:ext cx="5314004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Compute corrected point values:</a:t>
                </a:r>
              </a:p>
              <a:p>
                <a:endParaRPr lang="en-US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Example: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=0.0922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+0.0023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+1.7871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0.0922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1266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+0.0023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−533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𝟏𝟏𝟕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=0.0030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+0.0661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+0.3671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0.0030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1266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+0.0661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−533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+0.3671=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𝟑𝟏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E6700E-D26B-438D-A8AC-A3E6F62C8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12" y="1895048"/>
                <a:ext cx="5314004" cy="3693319"/>
              </a:xfrm>
              <a:prstGeom prst="rect">
                <a:avLst/>
              </a:prstGeom>
              <a:blipFill>
                <a:blip r:embed="rId3"/>
                <a:stretch>
                  <a:fillRect l="-917" t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F9B27DA-D1B8-474A-ADC5-2DC2D4770F32}"/>
              </a:ext>
            </a:extLst>
          </p:cNvPr>
          <p:cNvSpPr txBox="1"/>
          <p:nvPr/>
        </p:nvSpPr>
        <p:spPr>
          <a:xfrm>
            <a:off x="6281159" y="5311368"/>
            <a:ext cx="1401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/>
              <a:t>(1266, -533)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="" xmlns:a16="http://schemas.microsoft.com/office/drawing/2014/main" id="{D139EBE9-C4A3-4376-8ADF-BBC619232610}"/>
              </a:ext>
            </a:extLst>
          </p:cNvPr>
          <p:cNvSpPr/>
          <p:nvPr/>
        </p:nvSpPr>
        <p:spPr>
          <a:xfrm>
            <a:off x="9303026" y="2133600"/>
            <a:ext cx="1086678" cy="51683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6E39785-A9F4-4611-A6CB-4064C54E82A4}"/>
              </a:ext>
            </a:extLst>
          </p:cNvPr>
          <p:cNvSpPr txBox="1"/>
          <p:nvPr/>
        </p:nvSpPr>
        <p:spPr>
          <a:xfrm>
            <a:off x="9077739" y="780368"/>
            <a:ext cx="17890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For this point, the correction is worse than measured, but overall, the correction is better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75C93D8-B2E9-4A42-A8F5-EC1C286C3DDA}"/>
              </a:ext>
            </a:extLst>
          </p:cNvPr>
          <p:cNvSpPr txBox="1"/>
          <p:nvPr/>
        </p:nvSpPr>
        <p:spPr>
          <a:xfrm>
            <a:off x="703681" y="5733141"/>
            <a:ext cx="46780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Accuracy seems to be related to how long the voltage is applied before the measurement is taken (capacitance in touch panel)</a:t>
            </a:r>
          </a:p>
        </p:txBody>
      </p:sp>
    </p:spTree>
    <p:extLst>
      <p:ext uri="{BB962C8B-B14F-4D97-AF65-F5344CB8AC3E}">
        <p14:creationId xmlns:p14="http://schemas.microsoft.com/office/powerpoint/2010/main" val="136094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0D52D42-8F90-4B6D-8212-7C033C84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B5558D-8949-4CA1-8B8C-5487EE181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Proportional</a:t>
            </a:r>
          </a:p>
          <a:p>
            <a:r>
              <a:rPr lang="en-US" dirty="0"/>
              <a:t>Integral</a:t>
            </a:r>
          </a:p>
          <a:p>
            <a:r>
              <a:rPr lang="en-US" dirty="0"/>
              <a:t>Derivative</a:t>
            </a:r>
          </a:p>
          <a:p>
            <a:endParaRPr lang="en-US" dirty="0"/>
          </a:p>
          <a:p>
            <a:r>
              <a:rPr lang="en-US" dirty="0"/>
              <a:t>In each dimension (x and y):</a:t>
            </a:r>
          </a:p>
          <a:p>
            <a:pPr lvl="1"/>
            <a:r>
              <a:rPr lang="en-US" dirty="0"/>
              <a:t>Two inputs</a:t>
            </a:r>
          </a:p>
          <a:p>
            <a:pPr lvl="2"/>
            <a:r>
              <a:rPr lang="en-US" dirty="0"/>
              <a:t>Setpoint (desired outcome)</a:t>
            </a:r>
          </a:p>
          <a:p>
            <a:pPr lvl="2"/>
            <a:r>
              <a:rPr lang="en-US" dirty="0"/>
              <a:t>Measured outcome (AKA process variable)</a:t>
            </a:r>
          </a:p>
          <a:p>
            <a:pPr lvl="1"/>
            <a:r>
              <a:rPr lang="en-US" dirty="0"/>
              <a:t>One output</a:t>
            </a:r>
          </a:p>
          <a:p>
            <a:pPr lvl="2"/>
            <a:r>
              <a:rPr lang="en-US" dirty="0"/>
              <a:t>Drives the actuator (servo)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301F5D19-C59D-427F-B2B2-DB6BE58B3F17}"/>
                  </a:ext>
                </a:extLst>
              </p:cNvPr>
              <p:cNvSpPr txBox="1"/>
              <p:nvPr/>
            </p:nvSpPr>
            <p:spPr>
              <a:xfrm>
                <a:off x="3851031" y="1972026"/>
                <a:ext cx="7925309" cy="1193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1F5D19-C59D-427F-B2B2-DB6BE58B3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031" y="1972026"/>
                <a:ext cx="7925309" cy="11935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D335151-C5C5-4D21-8407-EA72AEF3F830}"/>
              </a:ext>
            </a:extLst>
          </p:cNvPr>
          <p:cNvSpPr txBox="1"/>
          <p:nvPr/>
        </p:nvSpPr>
        <p:spPr>
          <a:xfrm>
            <a:off x="7129669" y="4532243"/>
            <a:ext cx="46466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error = setpoint – measured value</a:t>
            </a:r>
          </a:p>
          <a:p>
            <a:endParaRPr lang="en-US" sz="2400" dirty="0"/>
          </a:p>
          <a:p>
            <a:r>
              <a:rPr lang="en-US" sz="2400" i="1" dirty="0"/>
              <a:t>Error can be positive or negative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="" xmlns:a16="http://schemas.microsoft.com/office/drawing/2014/main" id="{EDAD7259-3686-447C-BD1C-CFB6E3163DAC}"/>
              </a:ext>
            </a:extLst>
          </p:cNvPr>
          <p:cNvSpPr/>
          <p:nvPr/>
        </p:nvSpPr>
        <p:spPr>
          <a:xfrm>
            <a:off x="5303520" y="2208628"/>
            <a:ext cx="1364566" cy="7174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="" xmlns:a16="http://schemas.microsoft.com/office/drawing/2014/main" id="{F26F70E1-6D86-480C-9760-AC6D71907ECA}"/>
              </a:ext>
            </a:extLst>
          </p:cNvPr>
          <p:cNvSpPr/>
          <p:nvPr/>
        </p:nvSpPr>
        <p:spPr>
          <a:xfrm>
            <a:off x="6964093" y="1972027"/>
            <a:ext cx="2452467" cy="12848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="" xmlns:a16="http://schemas.microsoft.com/office/drawing/2014/main" id="{D98E770B-DDBA-4163-8FC4-6DBF00D3635F}"/>
              </a:ext>
            </a:extLst>
          </p:cNvPr>
          <p:cNvSpPr/>
          <p:nvPr/>
        </p:nvSpPr>
        <p:spPr>
          <a:xfrm>
            <a:off x="9680917" y="2114383"/>
            <a:ext cx="1937239" cy="9429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0E95B5C-4B77-48AA-9B69-0ECC0E66EDCD}"/>
              </a:ext>
            </a:extLst>
          </p:cNvPr>
          <p:cNvSpPr txBox="1"/>
          <p:nvPr/>
        </p:nvSpPr>
        <p:spPr>
          <a:xfrm>
            <a:off x="9489831" y="446362"/>
            <a:ext cx="37279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Proportional Term</a:t>
            </a:r>
          </a:p>
          <a:p>
            <a:r>
              <a:rPr lang="en-US" dirty="0">
                <a:solidFill>
                  <a:srgbClr val="FF0000"/>
                </a:solidFill>
              </a:rPr>
              <a:t>Integral Term</a:t>
            </a:r>
          </a:p>
          <a:p>
            <a:r>
              <a:rPr lang="en-US" dirty="0">
                <a:solidFill>
                  <a:srgbClr val="FF0000"/>
                </a:solidFill>
              </a:rPr>
              <a:t>Derivative Term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7698341D-B1DF-4A73-8171-5CC8785C8D38}"/>
              </a:ext>
            </a:extLst>
          </p:cNvPr>
          <p:cNvCxnSpPr>
            <a:cxnSpLocks/>
          </p:cNvCxnSpPr>
          <p:nvPr/>
        </p:nvCxnSpPr>
        <p:spPr>
          <a:xfrm flipV="1">
            <a:off x="5985803" y="605405"/>
            <a:ext cx="3504028" cy="15089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54E482CB-CBD3-4A11-A42E-65A0483A269A}"/>
              </a:ext>
            </a:extLst>
          </p:cNvPr>
          <p:cNvCxnSpPr>
            <a:stCxn id="9" idx="1"/>
          </p:cNvCxnSpPr>
          <p:nvPr/>
        </p:nvCxnSpPr>
        <p:spPr>
          <a:xfrm flipH="1">
            <a:off x="8018585" y="908027"/>
            <a:ext cx="1471246" cy="9697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="" xmlns:a16="http://schemas.microsoft.com/office/drawing/2014/main" id="{D499EA89-88DA-4004-AF91-890332CB4AC0}"/>
              </a:ext>
            </a:extLst>
          </p:cNvPr>
          <p:cNvCxnSpPr>
            <a:cxnSpLocks/>
          </p:cNvCxnSpPr>
          <p:nvPr/>
        </p:nvCxnSpPr>
        <p:spPr>
          <a:xfrm>
            <a:off x="10185009" y="1359894"/>
            <a:ext cx="283112" cy="6461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23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7B9050-71FD-48C0-A890-FC87CA23E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Tilt table control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AD807F52-98F6-4A12-92A8-3216DAA92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56037"/>
            <a:ext cx="10515600" cy="3690514"/>
          </a:xfrm>
        </p:spPr>
      </p:pic>
    </p:spTree>
    <p:extLst>
      <p:ext uri="{BB962C8B-B14F-4D97-AF65-F5344CB8AC3E}">
        <p14:creationId xmlns:p14="http://schemas.microsoft.com/office/powerpoint/2010/main" val="4022777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="" xmlns:a16="http://schemas.microsoft.com/office/drawing/2014/main" id="{110FC68C-5B6F-4138-B4A3-380911A1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Proportional Control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DECE4C1B-2DA0-44E9-B1EE-06DC7FE89308}"/>
              </a:ext>
            </a:extLst>
          </p:cNvPr>
          <p:cNvSpPr txBox="1">
            <a:spLocks/>
          </p:cNvSpPr>
          <p:nvPr/>
        </p:nvSpPr>
        <p:spPr>
          <a:xfrm>
            <a:off x="3554104" y="191790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9828E15E-27EB-479F-AE9D-1986763F8C61}"/>
              </a:ext>
            </a:extLst>
          </p:cNvPr>
          <p:cNvSpPr txBox="1">
            <a:spLocks/>
          </p:cNvSpPr>
          <p:nvPr/>
        </p:nvSpPr>
        <p:spPr>
          <a:xfrm>
            <a:off x="3336388" y="168720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3F64DEA6-BE6A-40B8-9317-A4CFF06CAC47}"/>
              </a:ext>
            </a:extLst>
          </p:cNvPr>
          <p:cNvSpPr txBox="1">
            <a:spLocks/>
          </p:cNvSpPr>
          <p:nvPr/>
        </p:nvSpPr>
        <p:spPr>
          <a:xfrm>
            <a:off x="3406077" y="183984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0EA95ED5-0A75-45B5-ADBA-98F897343F22}"/>
              </a:ext>
            </a:extLst>
          </p:cNvPr>
          <p:cNvSpPr/>
          <p:nvPr/>
        </p:nvSpPr>
        <p:spPr>
          <a:xfrm>
            <a:off x="991635" y="3844258"/>
            <a:ext cx="7531199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3D49BD39-C558-4E32-AAC0-DCB09FC44C30}"/>
              </a:ext>
            </a:extLst>
          </p:cNvPr>
          <p:cNvSpPr/>
          <p:nvPr/>
        </p:nvSpPr>
        <p:spPr>
          <a:xfrm>
            <a:off x="925488" y="2624351"/>
            <a:ext cx="1238524" cy="123852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E4A110C9-40D5-4F67-AB72-BA393A36016A}"/>
              </a:ext>
            </a:extLst>
          </p:cNvPr>
          <p:cNvSpPr/>
          <p:nvPr/>
        </p:nvSpPr>
        <p:spPr>
          <a:xfrm>
            <a:off x="4700676" y="4084889"/>
            <a:ext cx="113115" cy="1131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2E5DFC47-82F0-4018-9019-5A1A49FEE035}"/>
              </a:ext>
            </a:extLst>
          </p:cNvPr>
          <p:cNvCxnSpPr/>
          <p:nvPr/>
        </p:nvCxnSpPr>
        <p:spPr>
          <a:xfrm>
            <a:off x="1461331" y="4580546"/>
            <a:ext cx="3239345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F491365E-31C5-49A5-9DB5-7B50A2490370}"/>
              </a:ext>
            </a:extLst>
          </p:cNvPr>
          <p:cNvSpPr txBox="1"/>
          <p:nvPr/>
        </p:nvSpPr>
        <p:spPr>
          <a:xfrm>
            <a:off x="2655383" y="4575934"/>
            <a:ext cx="1065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0FAD093A-44CE-4C3F-B0E5-49327FEAA865}"/>
              </a:ext>
            </a:extLst>
          </p:cNvPr>
          <p:cNvCxnSpPr>
            <a:cxnSpLocks/>
          </p:cNvCxnSpPr>
          <p:nvPr/>
        </p:nvCxnSpPr>
        <p:spPr>
          <a:xfrm>
            <a:off x="351472" y="4095928"/>
            <a:ext cx="9077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96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79547D9-EC74-4B50-BEAF-65CAF105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Proportional Control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="" xmlns:a16="http://schemas.microsoft.com/office/drawing/2014/main" id="{05971B40-AB67-4F2A-B673-D155AA3F9340}"/>
              </a:ext>
            </a:extLst>
          </p:cNvPr>
          <p:cNvSpPr txBox="1">
            <a:spLocks/>
          </p:cNvSpPr>
          <p:nvPr/>
        </p:nvSpPr>
        <p:spPr>
          <a:xfrm>
            <a:off x="3554104" y="191790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="" xmlns:a16="http://schemas.microsoft.com/office/drawing/2014/main" id="{9F7BF9E1-6457-4F4C-86B2-298EAB85EDEE}"/>
              </a:ext>
            </a:extLst>
          </p:cNvPr>
          <p:cNvSpPr txBox="1">
            <a:spLocks/>
          </p:cNvSpPr>
          <p:nvPr/>
        </p:nvSpPr>
        <p:spPr>
          <a:xfrm>
            <a:off x="3336388" y="168720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="" xmlns:a16="http://schemas.microsoft.com/office/drawing/2014/main" id="{B6D53826-5245-4B07-82FD-51A49B4CAC90}"/>
              </a:ext>
            </a:extLst>
          </p:cNvPr>
          <p:cNvSpPr txBox="1">
            <a:spLocks/>
          </p:cNvSpPr>
          <p:nvPr/>
        </p:nvSpPr>
        <p:spPr>
          <a:xfrm>
            <a:off x="3406077" y="183984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BDE7ECC-8070-4D75-BCBE-9AAB288E2712}"/>
              </a:ext>
            </a:extLst>
          </p:cNvPr>
          <p:cNvSpPr/>
          <p:nvPr/>
        </p:nvSpPr>
        <p:spPr>
          <a:xfrm rot="960864">
            <a:off x="991635" y="3844258"/>
            <a:ext cx="7531199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73627B38-EDDB-4A08-8DBB-C9AC4FE49743}"/>
              </a:ext>
            </a:extLst>
          </p:cNvPr>
          <p:cNvSpPr/>
          <p:nvPr/>
        </p:nvSpPr>
        <p:spPr>
          <a:xfrm>
            <a:off x="1160336" y="1705807"/>
            <a:ext cx="1238524" cy="123852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C057C51F-339F-4BD2-8491-164FBE306551}"/>
              </a:ext>
            </a:extLst>
          </p:cNvPr>
          <p:cNvSpPr/>
          <p:nvPr/>
        </p:nvSpPr>
        <p:spPr>
          <a:xfrm>
            <a:off x="4700676" y="4084889"/>
            <a:ext cx="113115" cy="1131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EBAC21D2-1926-4E28-AFE3-4364F0CD2325}"/>
              </a:ext>
            </a:extLst>
          </p:cNvPr>
          <p:cNvCxnSpPr>
            <a:cxnSpLocks/>
          </p:cNvCxnSpPr>
          <p:nvPr/>
        </p:nvCxnSpPr>
        <p:spPr>
          <a:xfrm>
            <a:off x="1781175" y="4332896"/>
            <a:ext cx="2976058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2FD00B8-43B9-4BBA-BED5-26807578949D}"/>
              </a:ext>
            </a:extLst>
          </p:cNvPr>
          <p:cNvSpPr txBox="1"/>
          <p:nvPr/>
        </p:nvSpPr>
        <p:spPr>
          <a:xfrm>
            <a:off x="2604582" y="4362064"/>
            <a:ext cx="1065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 </a:t>
            </a:r>
            <a:r>
              <a:rPr lang="en-US" dirty="0"/>
              <a:t>= Error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38ED4674-D3AC-4AAA-86A8-EFF0B2B91D01}"/>
              </a:ext>
            </a:extLst>
          </p:cNvPr>
          <p:cNvCxnSpPr>
            <a:cxnSpLocks/>
          </p:cNvCxnSpPr>
          <p:nvPr/>
        </p:nvCxnSpPr>
        <p:spPr>
          <a:xfrm flipV="1">
            <a:off x="1529697" y="3200400"/>
            <a:ext cx="0" cy="88448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192ABCEB-F6CE-4735-95E4-610937513733}"/>
              </a:ext>
            </a:extLst>
          </p:cNvPr>
          <p:cNvSpPr txBox="1"/>
          <p:nvPr/>
        </p:nvSpPr>
        <p:spPr>
          <a:xfrm>
            <a:off x="1527362" y="3517681"/>
            <a:ext cx="428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</a:t>
            </a:r>
            <a:r>
              <a:rPr lang="en-US" i="1" dirty="0" err="1"/>
              <a:t>e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="" xmlns:a16="http://schemas.microsoft.com/office/drawing/2014/main" id="{9E982855-A381-447B-97F5-184991B13538}"/>
              </a:ext>
            </a:extLst>
          </p:cNvPr>
          <p:cNvCxnSpPr>
            <a:cxnSpLocks/>
          </p:cNvCxnSpPr>
          <p:nvPr/>
        </p:nvCxnSpPr>
        <p:spPr>
          <a:xfrm>
            <a:off x="2476500" y="2533650"/>
            <a:ext cx="590550" cy="1905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="" xmlns:a16="http://schemas.microsoft.com/office/drawing/2014/main" id="{CC9FB32E-E85B-4ED5-A813-8ECFC669ED31}"/>
              </a:ext>
            </a:extLst>
          </p:cNvPr>
          <p:cNvCxnSpPr>
            <a:cxnSpLocks/>
          </p:cNvCxnSpPr>
          <p:nvPr/>
        </p:nvCxnSpPr>
        <p:spPr>
          <a:xfrm>
            <a:off x="351472" y="4095928"/>
            <a:ext cx="9077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62D27F9-D9F2-4E7A-B429-5B28D7AEAACF}"/>
              </a:ext>
            </a:extLst>
          </p:cNvPr>
          <p:cNvSpPr txBox="1"/>
          <p:nvPr/>
        </p:nvSpPr>
        <p:spPr>
          <a:xfrm>
            <a:off x="2671008" y="2263415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413611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61A9DC-84BE-4E14-AC4C-A0FD4F53E2D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Proportional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D91A428-8BA1-43CA-9AB7-33655020E5EA}"/>
              </a:ext>
            </a:extLst>
          </p:cNvPr>
          <p:cNvSpPr txBox="1">
            <a:spLocks/>
          </p:cNvSpPr>
          <p:nvPr/>
        </p:nvSpPr>
        <p:spPr>
          <a:xfrm>
            <a:off x="3554104" y="191790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4EF9C632-CF8A-47FB-B8B1-255A55B54102}"/>
              </a:ext>
            </a:extLst>
          </p:cNvPr>
          <p:cNvSpPr txBox="1">
            <a:spLocks/>
          </p:cNvSpPr>
          <p:nvPr/>
        </p:nvSpPr>
        <p:spPr>
          <a:xfrm>
            <a:off x="3336388" y="168720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EFB160FA-B6E3-4E66-8A35-DC4B630CE2A3}"/>
              </a:ext>
            </a:extLst>
          </p:cNvPr>
          <p:cNvSpPr txBox="1">
            <a:spLocks/>
          </p:cNvSpPr>
          <p:nvPr/>
        </p:nvSpPr>
        <p:spPr>
          <a:xfrm>
            <a:off x="3406077" y="183984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5E8075D-5CBE-43CD-AEC7-57DF3BAE80D2}"/>
              </a:ext>
            </a:extLst>
          </p:cNvPr>
          <p:cNvSpPr/>
          <p:nvPr/>
        </p:nvSpPr>
        <p:spPr>
          <a:xfrm rot="581559">
            <a:off x="991635" y="3844258"/>
            <a:ext cx="7531199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B383CEDC-E0DE-4C01-BCA3-52B7CB6CF691}"/>
              </a:ext>
            </a:extLst>
          </p:cNvPr>
          <p:cNvSpPr/>
          <p:nvPr/>
        </p:nvSpPr>
        <p:spPr>
          <a:xfrm>
            <a:off x="2628087" y="2320486"/>
            <a:ext cx="1238524" cy="123852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DE5FD899-A3A4-4310-9E9D-AEFE2A91177E}"/>
              </a:ext>
            </a:extLst>
          </p:cNvPr>
          <p:cNvSpPr/>
          <p:nvPr/>
        </p:nvSpPr>
        <p:spPr>
          <a:xfrm>
            <a:off x="4700676" y="4084889"/>
            <a:ext cx="113115" cy="1131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395FEB56-0015-40C1-B2F7-4DD60423B1B0}"/>
              </a:ext>
            </a:extLst>
          </p:cNvPr>
          <p:cNvCxnSpPr>
            <a:cxnSpLocks/>
          </p:cNvCxnSpPr>
          <p:nvPr/>
        </p:nvCxnSpPr>
        <p:spPr>
          <a:xfrm>
            <a:off x="3264560" y="4614768"/>
            <a:ext cx="1436115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C92959E-F82E-49BD-9885-EDDE17F44F1C}"/>
              </a:ext>
            </a:extLst>
          </p:cNvPr>
          <p:cNvSpPr txBox="1"/>
          <p:nvPr/>
        </p:nvSpPr>
        <p:spPr>
          <a:xfrm>
            <a:off x="3824180" y="4579768"/>
            <a:ext cx="1065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B6A0B229-3F7A-4B36-B617-8AF6DE8A003D}"/>
              </a:ext>
            </a:extLst>
          </p:cNvPr>
          <p:cNvCxnSpPr>
            <a:cxnSpLocks/>
          </p:cNvCxnSpPr>
          <p:nvPr/>
        </p:nvCxnSpPr>
        <p:spPr>
          <a:xfrm flipV="1">
            <a:off x="1158127" y="3494785"/>
            <a:ext cx="1" cy="59010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226DCBB6-4AF5-41DE-A28F-5412353BE93A}"/>
              </a:ext>
            </a:extLst>
          </p:cNvPr>
          <p:cNvSpPr txBox="1"/>
          <p:nvPr/>
        </p:nvSpPr>
        <p:spPr>
          <a:xfrm>
            <a:off x="1158127" y="3600761"/>
            <a:ext cx="428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</a:t>
            </a:r>
            <a:r>
              <a:rPr lang="en-US" i="1" dirty="0" err="1"/>
              <a:t>e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E0BC1EDD-32ED-49DA-AAAD-36CBE3D57CE6}"/>
              </a:ext>
            </a:extLst>
          </p:cNvPr>
          <p:cNvCxnSpPr>
            <a:cxnSpLocks/>
          </p:cNvCxnSpPr>
          <p:nvPr/>
        </p:nvCxnSpPr>
        <p:spPr>
          <a:xfrm>
            <a:off x="3957066" y="3220283"/>
            <a:ext cx="1007934" cy="22207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="" xmlns:a16="http://schemas.microsoft.com/office/drawing/2014/main" id="{8B619943-1DDE-4A95-9645-24C59113CBB5}"/>
              </a:ext>
            </a:extLst>
          </p:cNvPr>
          <p:cNvCxnSpPr>
            <a:cxnSpLocks/>
          </p:cNvCxnSpPr>
          <p:nvPr/>
        </p:nvCxnSpPr>
        <p:spPr>
          <a:xfrm>
            <a:off x="351472" y="4095928"/>
            <a:ext cx="9077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8BB0A94D-F39C-45C2-93D8-3D2F25694D26}"/>
              </a:ext>
            </a:extLst>
          </p:cNvPr>
          <p:cNvSpPr txBox="1"/>
          <p:nvPr/>
        </p:nvSpPr>
        <p:spPr>
          <a:xfrm>
            <a:off x="4357157" y="2919649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96990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D2785B0-E9AC-497E-BC01-5EFC615B373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Proportional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85050CD-F64A-4098-89E1-F5C417835E82}"/>
              </a:ext>
            </a:extLst>
          </p:cNvPr>
          <p:cNvSpPr txBox="1">
            <a:spLocks/>
          </p:cNvSpPr>
          <p:nvPr/>
        </p:nvSpPr>
        <p:spPr>
          <a:xfrm>
            <a:off x="3554104" y="191790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487998DD-748F-40FB-9C17-EBB15F9C469E}"/>
              </a:ext>
            </a:extLst>
          </p:cNvPr>
          <p:cNvSpPr txBox="1">
            <a:spLocks/>
          </p:cNvSpPr>
          <p:nvPr/>
        </p:nvSpPr>
        <p:spPr>
          <a:xfrm>
            <a:off x="3336388" y="168720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F1081CD6-B746-4972-8C60-375A2A071174}"/>
              </a:ext>
            </a:extLst>
          </p:cNvPr>
          <p:cNvSpPr txBox="1">
            <a:spLocks/>
          </p:cNvSpPr>
          <p:nvPr/>
        </p:nvSpPr>
        <p:spPr>
          <a:xfrm>
            <a:off x="3406077" y="183984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77502918-9E11-4679-84B6-1713C7958B6E}"/>
              </a:ext>
            </a:extLst>
          </p:cNvPr>
          <p:cNvSpPr/>
          <p:nvPr/>
        </p:nvSpPr>
        <p:spPr>
          <a:xfrm>
            <a:off x="4133021" y="2605733"/>
            <a:ext cx="1238524" cy="123852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F3A934BA-0264-4BE5-BAD4-FF96724027C3}"/>
              </a:ext>
            </a:extLst>
          </p:cNvPr>
          <p:cNvSpPr/>
          <p:nvPr/>
        </p:nvSpPr>
        <p:spPr>
          <a:xfrm>
            <a:off x="4700676" y="4084889"/>
            <a:ext cx="113115" cy="1131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914DDD5-4A77-45FD-8E6F-CD21401C3F9E}"/>
              </a:ext>
            </a:extLst>
          </p:cNvPr>
          <p:cNvSpPr txBox="1"/>
          <p:nvPr/>
        </p:nvSpPr>
        <p:spPr>
          <a:xfrm>
            <a:off x="4405586" y="4245087"/>
            <a:ext cx="1065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 = 0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60F67426-F7B0-4096-99FF-0037497B7AF3}"/>
              </a:ext>
            </a:extLst>
          </p:cNvPr>
          <p:cNvCxnSpPr>
            <a:cxnSpLocks/>
          </p:cNvCxnSpPr>
          <p:nvPr/>
        </p:nvCxnSpPr>
        <p:spPr>
          <a:xfrm>
            <a:off x="5471541" y="3225828"/>
            <a:ext cx="148170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="" xmlns:a16="http://schemas.microsoft.com/office/drawing/2014/main" id="{F3FEC93E-D2F2-4C6B-9593-E0557F525099}"/>
              </a:ext>
            </a:extLst>
          </p:cNvPr>
          <p:cNvCxnSpPr>
            <a:cxnSpLocks/>
          </p:cNvCxnSpPr>
          <p:nvPr/>
        </p:nvCxnSpPr>
        <p:spPr>
          <a:xfrm>
            <a:off x="351472" y="4095928"/>
            <a:ext cx="9077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A0E3B5FB-29F9-4C46-8DCE-A116C3904217}"/>
              </a:ext>
            </a:extLst>
          </p:cNvPr>
          <p:cNvSpPr/>
          <p:nvPr/>
        </p:nvSpPr>
        <p:spPr>
          <a:xfrm>
            <a:off x="991635" y="3844258"/>
            <a:ext cx="7531199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9F54B4DF-015A-47DB-8024-2CC06184C694}"/>
              </a:ext>
            </a:extLst>
          </p:cNvPr>
          <p:cNvSpPr txBox="1"/>
          <p:nvPr/>
        </p:nvSpPr>
        <p:spPr>
          <a:xfrm>
            <a:off x="981733" y="4214883"/>
            <a:ext cx="1065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Ke</a:t>
            </a:r>
            <a:r>
              <a:rPr lang="en-US" i="1" dirty="0"/>
              <a:t> = 0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2649CBD5-2D60-4BBF-8C35-9303F961AA4D}"/>
              </a:ext>
            </a:extLst>
          </p:cNvPr>
          <p:cNvSpPr txBox="1"/>
          <p:nvPr/>
        </p:nvSpPr>
        <p:spPr>
          <a:xfrm>
            <a:off x="6024550" y="2813886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717280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823414-6AEF-49A5-8641-1E0C120353F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Proportional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44E7FB-3100-409A-AE27-4225951FD037}"/>
              </a:ext>
            </a:extLst>
          </p:cNvPr>
          <p:cNvSpPr txBox="1">
            <a:spLocks/>
          </p:cNvSpPr>
          <p:nvPr/>
        </p:nvSpPr>
        <p:spPr>
          <a:xfrm>
            <a:off x="3554104" y="191790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BFA85546-2C82-41D2-A177-CEE3931E6B31}"/>
              </a:ext>
            </a:extLst>
          </p:cNvPr>
          <p:cNvSpPr txBox="1">
            <a:spLocks/>
          </p:cNvSpPr>
          <p:nvPr/>
        </p:nvSpPr>
        <p:spPr>
          <a:xfrm>
            <a:off x="3336388" y="168720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82654D1E-EFCF-43FF-8A80-B076B588AEB4}"/>
              </a:ext>
            </a:extLst>
          </p:cNvPr>
          <p:cNvSpPr txBox="1">
            <a:spLocks/>
          </p:cNvSpPr>
          <p:nvPr/>
        </p:nvSpPr>
        <p:spPr>
          <a:xfrm>
            <a:off x="3406077" y="183984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7B79B16D-ECF0-4EA6-80E4-887767952822}"/>
              </a:ext>
            </a:extLst>
          </p:cNvPr>
          <p:cNvSpPr/>
          <p:nvPr/>
        </p:nvSpPr>
        <p:spPr>
          <a:xfrm rot="21182984">
            <a:off x="991635" y="3844258"/>
            <a:ext cx="7531199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204414F3-6CBE-42EB-B7D6-6EDF6565CF73}"/>
              </a:ext>
            </a:extLst>
          </p:cNvPr>
          <p:cNvSpPr/>
          <p:nvPr/>
        </p:nvSpPr>
        <p:spPr>
          <a:xfrm>
            <a:off x="5711250" y="2397101"/>
            <a:ext cx="1238524" cy="123852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E82CF303-C1CC-4628-B228-55450E232BB9}"/>
              </a:ext>
            </a:extLst>
          </p:cNvPr>
          <p:cNvSpPr/>
          <p:nvPr/>
        </p:nvSpPr>
        <p:spPr>
          <a:xfrm>
            <a:off x="4700676" y="4084889"/>
            <a:ext cx="113115" cy="1131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B343ADB6-3F0B-49C5-8F3B-D726965A96FC}"/>
              </a:ext>
            </a:extLst>
          </p:cNvPr>
          <p:cNvCxnSpPr>
            <a:cxnSpLocks/>
          </p:cNvCxnSpPr>
          <p:nvPr/>
        </p:nvCxnSpPr>
        <p:spPr>
          <a:xfrm flipH="1">
            <a:off x="4813791" y="4614768"/>
            <a:ext cx="1516722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8A9E1DD-2A21-4F86-9B64-394935CD4F84}"/>
              </a:ext>
            </a:extLst>
          </p:cNvPr>
          <p:cNvSpPr txBox="1"/>
          <p:nvPr/>
        </p:nvSpPr>
        <p:spPr>
          <a:xfrm>
            <a:off x="4718585" y="4624500"/>
            <a:ext cx="1985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 </a:t>
            </a:r>
            <a:r>
              <a:rPr lang="en-US" dirty="0"/>
              <a:t>(opposite sign)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6C31B855-3A9C-47AD-8B80-ADD95145588C}"/>
              </a:ext>
            </a:extLst>
          </p:cNvPr>
          <p:cNvCxnSpPr>
            <a:cxnSpLocks/>
          </p:cNvCxnSpPr>
          <p:nvPr/>
        </p:nvCxnSpPr>
        <p:spPr>
          <a:xfrm flipV="1">
            <a:off x="8427064" y="3675317"/>
            <a:ext cx="0" cy="40957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E68FD372-6E82-4868-8E45-AB99A9F4CCD4}"/>
              </a:ext>
            </a:extLst>
          </p:cNvPr>
          <p:cNvSpPr txBox="1"/>
          <p:nvPr/>
        </p:nvSpPr>
        <p:spPr>
          <a:xfrm>
            <a:off x="8443926" y="3675317"/>
            <a:ext cx="2213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</a:t>
            </a:r>
            <a:r>
              <a:rPr lang="en-US" i="1" dirty="0" err="1"/>
              <a:t>e</a:t>
            </a:r>
            <a:r>
              <a:rPr lang="en-US" i="1" dirty="0"/>
              <a:t> </a:t>
            </a:r>
            <a:r>
              <a:rPr lang="en-US" dirty="0"/>
              <a:t>(opposite sign)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A87629F3-3BF6-4DF9-A489-19EC11BDFA53}"/>
              </a:ext>
            </a:extLst>
          </p:cNvPr>
          <p:cNvCxnSpPr>
            <a:cxnSpLocks/>
          </p:cNvCxnSpPr>
          <p:nvPr/>
        </p:nvCxnSpPr>
        <p:spPr>
          <a:xfrm flipV="1">
            <a:off x="7019463" y="2914650"/>
            <a:ext cx="566108" cy="9812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49CB80E5-1F1A-432C-AC62-CF7426BE50ED}"/>
              </a:ext>
            </a:extLst>
          </p:cNvPr>
          <p:cNvCxnSpPr>
            <a:cxnSpLocks/>
          </p:cNvCxnSpPr>
          <p:nvPr/>
        </p:nvCxnSpPr>
        <p:spPr>
          <a:xfrm>
            <a:off x="351472" y="4095928"/>
            <a:ext cx="9077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5F2DBD3F-B5B4-47E3-A26B-05698B81B3F0}"/>
              </a:ext>
            </a:extLst>
          </p:cNvPr>
          <p:cNvSpPr txBox="1"/>
          <p:nvPr/>
        </p:nvSpPr>
        <p:spPr>
          <a:xfrm>
            <a:off x="7097801" y="2594378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298284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823414-6AEF-49A5-8641-1E0C120353F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Proportional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44E7FB-3100-409A-AE27-4225951FD037}"/>
              </a:ext>
            </a:extLst>
          </p:cNvPr>
          <p:cNvSpPr txBox="1">
            <a:spLocks/>
          </p:cNvSpPr>
          <p:nvPr/>
        </p:nvSpPr>
        <p:spPr>
          <a:xfrm>
            <a:off x="3554104" y="191790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82654D1E-EFCF-43FF-8A80-B076B588AEB4}"/>
              </a:ext>
            </a:extLst>
          </p:cNvPr>
          <p:cNvSpPr txBox="1">
            <a:spLocks/>
          </p:cNvSpPr>
          <p:nvPr/>
        </p:nvSpPr>
        <p:spPr>
          <a:xfrm>
            <a:off x="3406077" y="183984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7B79B16D-ECF0-4EA6-80E4-887767952822}"/>
              </a:ext>
            </a:extLst>
          </p:cNvPr>
          <p:cNvSpPr/>
          <p:nvPr/>
        </p:nvSpPr>
        <p:spPr>
          <a:xfrm rot="20920836">
            <a:off x="991635" y="3844258"/>
            <a:ext cx="7531199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204414F3-6CBE-42EB-B7D6-6EDF6565CF73}"/>
              </a:ext>
            </a:extLst>
          </p:cNvPr>
          <p:cNvSpPr/>
          <p:nvPr/>
        </p:nvSpPr>
        <p:spPr>
          <a:xfrm>
            <a:off x="6767794" y="2042733"/>
            <a:ext cx="1238524" cy="123852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E82CF303-C1CC-4628-B228-55450E232BB9}"/>
              </a:ext>
            </a:extLst>
          </p:cNvPr>
          <p:cNvSpPr/>
          <p:nvPr/>
        </p:nvSpPr>
        <p:spPr>
          <a:xfrm>
            <a:off x="4700676" y="4084889"/>
            <a:ext cx="113115" cy="1131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B343ADB6-3F0B-49C5-8F3B-D726965A96FC}"/>
              </a:ext>
            </a:extLst>
          </p:cNvPr>
          <p:cNvCxnSpPr>
            <a:cxnSpLocks/>
          </p:cNvCxnSpPr>
          <p:nvPr/>
        </p:nvCxnSpPr>
        <p:spPr>
          <a:xfrm flipH="1">
            <a:off x="4813791" y="4614768"/>
            <a:ext cx="2573265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8A9E1DD-2A21-4F86-9B64-394935CD4F84}"/>
              </a:ext>
            </a:extLst>
          </p:cNvPr>
          <p:cNvSpPr txBox="1"/>
          <p:nvPr/>
        </p:nvSpPr>
        <p:spPr>
          <a:xfrm>
            <a:off x="5862625" y="4612413"/>
            <a:ext cx="1065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6C31B855-3A9C-47AD-8B80-ADD95145588C}"/>
              </a:ext>
            </a:extLst>
          </p:cNvPr>
          <p:cNvCxnSpPr>
            <a:cxnSpLocks/>
          </p:cNvCxnSpPr>
          <p:nvPr/>
        </p:nvCxnSpPr>
        <p:spPr>
          <a:xfrm flipV="1">
            <a:off x="8427064" y="3429000"/>
            <a:ext cx="0" cy="65588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E68FD372-6E82-4868-8E45-AB99A9F4CCD4}"/>
              </a:ext>
            </a:extLst>
          </p:cNvPr>
          <p:cNvSpPr txBox="1"/>
          <p:nvPr/>
        </p:nvSpPr>
        <p:spPr>
          <a:xfrm>
            <a:off x="8443926" y="3675317"/>
            <a:ext cx="1242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</a:t>
            </a:r>
            <a:r>
              <a:rPr lang="en-US" i="1" dirty="0" err="1"/>
              <a:t>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49CB80E5-1F1A-432C-AC62-CF7426BE50ED}"/>
              </a:ext>
            </a:extLst>
          </p:cNvPr>
          <p:cNvCxnSpPr>
            <a:cxnSpLocks/>
          </p:cNvCxnSpPr>
          <p:nvPr/>
        </p:nvCxnSpPr>
        <p:spPr>
          <a:xfrm>
            <a:off x="351472" y="4095928"/>
            <a:ext cx="9077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709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="" xmlns:a16="http://schemas.microsoft.com/office/drawing/2014/main" id="{110FC68C-5B6F-4138-B4A3-380911A1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Proportional-Derivative (PD) Control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DECE4C1B-2DA0-44E9-B1EE-06DC7FE89308}"/>
              </a:ext>
            </a:extLst>
          </p:cNvPr>
          <p:cNvSpPr txBox="1">
            <a:spLocks/>
          </p:cNvSpPr>
          <p:nvPr/>
        </p:nvSpPr>
        <p:spPr>
          <a:xfrm>
            <a:off x="3554104" y="191790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9828E15E-27EB-479F-AE9D-1986763F8C61}"/>
              </a:ext>
            </a:extLst>
          </p:cNvPr>
          <p:cNvSpPr txBox="1">
            <a:spLocks/>
          </p:cNvSpPr>
          <p:nvPr/>
        </p:nvSpPr>
        <p:spPr>
          <a:xfrm>
            <a:off x="3336388" y="168720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3F64DEA6-BE6A-40B8-9317-A4CFF06CAC47}"/>
              </a:ext>
            </a:extLst>
          </p:cNvPr>
          <p:cNvSpPr txBox="1">
            <a:spLocks/>
          </p:cNvSpPr>
          <p:nvPr/>
        </p:nvSpPr>
        <p:spPr>
          <a:xfrm>
            <a:off x="3406077" y="183984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0EA95ED5-0A75-45B5-ADBA-98F897343F22}"/>
              </a:ext>
            </a:extLst>
          </p:cNvPr>
          <p:cNvSpPr/>
          <p:nvPr/>
        </p:nvSpPr>
        <p:spPr>
          <a:xfrm>
            <a:off x="991635" y="3844258"/>
            <a:ext cx="7531199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3D49BD39-C558-4E32-AAC0-DCB09FC44C30}"/>
              </a:ext>
            </a:extLst>
          </p:cNvPr>
          <p:cNvSpPr/>
          <p:nvPr/>
        </p:nvSpPr>
        <p:spPr>
          <a:xfrm>
            <a:off x="925488" y="2624351"/>
            <a:ext cx="1238524" cy="123852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E4A110C9-40D5-4F67-AB72-BA393A36016A}"/>
              </a:ext>
            </a:extLst>
          </p:cNvPr>
          <p:cNvSpPr/>
          <p:nvPr/>
        </p:nvSpPr>
        <p:spPr>
          <a:xfrm>
            <a:off x="4700676" y="4084889"/>
            <a:ext cx="113115" cy="1131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2E5DFC47-82F0-4018-9019-5A1A49FEE035}"/>
              </a:ext>
            </a:extLst>
          </p:cNvPr>
          <p:cNvCxnSpPr/>
          <p:nvPr/>
        </p:nvCxnSpPr>
        <p:spPr>
          <a:xfrm>
            <a:off x="1461331" y="4580546"/>
            <a:ext cx="3239345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F491365E-31C5-49A5-9DB5-7B50A2490370}"/>
              </a:ext>
            </a:extLst>
          </p:cNvPr>
          <p:cNvSpPr txBox="1"/>
          <p:nvPr/>
        </p:nvSpPr>
        <p:spPr>
          <a:xfrm>
            <a:off x="3021126" y="4513237"/>
            <a:ext cx="1065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0FAD093A-44CE-4C3F-B0E5-49327FEAA865}"/>
              </a:ext>
            </a:extLst>
          </p:cNvPr>
          <p:cNvCxnSpPr>
            <a:cxnSpLocks/>
          </p:cNvCxnSpPr>
          <p:nvPr/>
        </p:nvCxnSpPr>
        <p:spPr>
          <a:xfrm>
            <a:off x="351472" y="4095928"/>
            <a:ext cx="9077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55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79547D9-EC74-4B50-BEAF-65CAF105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 Control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="" xmlns:a16="http://schemas.microsoft.com/office/drawing/2014/main" id="{05971B40-AB67-4F2A-B673-D155AA3F9340}"/>
              </a:ext>
            </a:extLst>
          </p:cNvPr>
          <p:cNvSpPr txBox="1">
            <a:spLocks/>
          </p:cNvSpPr>
          <p:nvPr/>
        </p:nvSpPr>
        <p:spPr>
          <a:xfrm>
            <a:off x="3554104" y="191790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="" xmlns:a16="http://schemas.microsoft.com/office/drawing/2014/main" id="{9F7BF9E1-6457-4F4C-86B2-298EAB85EDEE}"/>
              </a:ext>
            </a:extLst>
          </p:cNvPr>
          <p:cNvSpPr txBox="1">
            <a:spLocks/>
          </p:cNvSpPr>
          <p:nvPr/>
        </p:nvSpPr>
        <p:spPr>
          <a:xfrm>
            <a:off x="3336388" y="168720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="" xmlns:a16="http://schemas.microsoft.com/office/drawing/2014/main" id="{B6D53826-5245-4B07-82FD-51A49B4CAC90}"/>
              </a:ext>
            </a:extLst>
          </p:cNvPr>
          <p:cNvSpPr txBox="1">
            <a:spLocks/>
          </p:cNvSpPr>
          <p:nvPr/>
        </p:nvSpPr>
        <p:spPr>
          <a:xfrm>
            <a:off x="3406077" y="183984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BDE7ECC-8070-4D75-BCBE-9AAB288E2712}"/>
              </a:ext>
            </a:extLst>
          </p:cNvPr>
          <p:cNvSpPr/>
          <p:nvPr/>
        </p:nvSpPr>
        <p:spPr>
          <a:xfrm rot="960864">
            <a:off x="991635" y="3844258"/>
            <a:ext cx="7531199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73627B38-EDDB-4A08-8DBB-C9AC4FE49743}"/>
              </a:ext>
            </a:extLst>
          </p:cNvPr>
          <p:cNvSpPr/>
          <p:nvPr/>
        </p:nvSpPr>
        <p:spPr>
          <a:xfrm>
            <a:off x="1160336" y="1705807"/>
            <a:ext cx="1238524" cy="123852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C057C51F-339F-4BD2-8491-164FBE306551}"/>
              </a:ext>
            </a:extLst>
          </p:cNvPr>
          <p:cNvSpPr/>
          <p:nvPr/>
        </p:nvSpPr>
        <p:spPr>
          <a:xfrm>
            <a:off x="4700676" y="4084889"/>
            <a:ext cx="113115" cy="1131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EBAC21D2-1926-4E28-AFE3-4364F0CD2325}"/>
              </a:ext>
            </a:extLst>
          </p:cNvPr>
          <p:cNvCxnSpPr>
            <a:cxnSpLocks/>
          </p:cNvCxnSpPr>
          <p:nvPr/>
        </p:nvCxnSpPr>
        <p:spPr>
          <a:xfrm>
            <a:off x="1781175" y="4332896"/>
            <a:ext cx="2976058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2FD00B8-43B9-4BBA-BED5-26807578949D}"/>
              </a:ext>
            </a:extLst>
          </p:cNvPr>
          <p:cNvSpPr txBox="1"/>
          <p:nvPr/>
        </p:nvSpPr>
        <p:spPr>
          <a:xfrm>
            <a:off x="3067050" y="4362064"/>
            <a:ext cx="1065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38ED4674-D3AC-4AAA-86A8-EFF0B2B91D01}"/>
              </a:ext>
            </a:extLst>
          </p:cNvPr>
          <p:cNvCxnSpPr>
            <a:cxnSpLocks/>
          </p:cNvCxnSpPr>
          <p:nvPr/>
        </p:nvCxnSpPr>
        <p:spPr>
          <a:xfrm flipV="1">
            <a:off x="1529697" y="3200400"/>
            <a:ext cx="0" cy="88448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192ABCEB-F6CE-4735-95E4-610937513733}"/>
              </a:ext>
            </a:extLst>
          </p:cNvPr>
          <p:cNvSpPr txBox="1"/>
          <p:nvPr/>
        </p:nvSpPr>
        <p:spPr>
          <a:xfrm>
            <a:off x="1527361" y="3517681"/>
            <a:ext cx="566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</a:t>
            </a:r>
            <a:r>
              <a:rPr lang="en-US" baseline="-25000" dirty="0" err="1"/>
              <a:t>p</a:t>
            </a:r>
            <a:r>
              <a:rPr lang="en-US" i="1" dirty="0" err="1"/>
              <a:t>e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="" xmlns:a16="http://schemas.microsoft.com/office/drawing/2014/main" id="{9E982855-A381-447B-97F5-184991B13538}"/>
              </a:ext>
            </a:extLst>
          </p:cNvPr>
          <p:cNvCxnSpPr>
            <a:cxnSpLocks/>
          </p:cNvCxnSpPr>
          <p:nvPr/>
        </p:nvCxnSpPr>
        <p:spPr>
          <a:xfrm>
            <a:off x="2476500" y="2583198"/>
            <a:ext cx="338137" cy="9909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="" xmlns:a16="http://schemas.microsoft.com/office/drawing/2014/main" id="{CC9FB32E-E85B-4ED5-A813-8ECFC669ED31}"/>
              </a:ext>
            </a:extLst>
          </p:cNvPr>
          <p:cNvCxnSpPr>
            <a:cxnSpLocks/>
          </p:cNvCxnSpPr>
          <p:nvPr/>
        </p:nvCxnSpPr>
        <p:spPr>
          <a:xfrm>
            <a:off x="351472" y="4095928"/>
            <a:ext cx="9077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2D048303-C9D1-47EF-A6EC-D78E1537EF7C}"/>
              </a:ext>
            </a:extLst>
          </p:cNvPr>
          <p:cNvSpPr txBox="1"/>
          <p:nvPr/>
        </p:nvSpPr>
        <p:spPr>
          <a:xfrm>
            <a:off x="2501939" y="226341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427429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61A9DC-84BE-4E14-AC4C-A0FD4F53E2D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PD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D91A428-8BA1-43CA-9AB7-33655020E5EA}"/>
              </a:ext>
            </a:extLst>
          </p:cNvPr>
          <p:cNvSpPr txBox="1">
            <a:spLocks/>
          </p:cNvSpPr>
          <p:nvPr/>
        </p:nvSpPr>
        <p:spPr>
          <a:xfrm>
            <a:off x="3554104" y="191790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4EF9C632-CF8A-47FB-B8B1-255A55B54102}"/>
              </a:ext>
            </a:extLst>
          </p:cNvPr>
          <p:cNvSpPr txBox="1">
            <a:spLocks/>
          </p:cNvSpPr>
          <p:nvPr/>
        </p:nvSpPr>
        <p:spPr>
          <a:xfrm>
            <a:off x="3336388" y="168720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EFB160FA-B6E3-4E66-8A35-DC4B630CE2A3}"/>
              </a:ext>
            </a:extLst>
          </p:cNvPr>
          <p:cNvSpPr txBox="1">
            <a:spLocks/>
          </p:cNvSpPr>
          <p:nvPr/>
        </p:nvSpPr>
        <p:spPr>
          <a:xfrm>
            <a:off x="3406077" y="183984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5E8075D-5CBE-43CD-AEC7-57DF3BAE80D2}"/>
              </a:ext>
            </a:extLst>
          </p:cNvPr>
          <p:cNvSpPr/>
          <p:nvPr/>
        </p:nvSpPr>
        <p:spPr>
          <a:xfrm rot="581559">
            <a:off x="991635" y="3844258"/>
            <a:ext cx="7531199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B383CEDC-E0DE-4C01-BCA3-52B7CB6CF691}"/>
              </a:ext>
            </a:extLst>
          </p:cNvPr>
          <p:cNvSpPr/>
          <p:nvPr/>
        </p:nvSpPr>
        <p:spPr>
          <a:xfrm>
            <a:off x="2360659" y="2252295"/>
            <a:ext cx="1238524" cy="123852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DE5FD899-A3A4-4310-9E9D-AEFE2A91177E}"/>
              </a:ext>
            </a:extLst>
          </p:cNvPr>
          <p:cNvSpPr/>
          <p:nvPr/>
        </p:nvSpPr>
        <p:spPr>
          <a:xfrm>
            <a:off x="4700676" y="4084889"/>
            <a:ext cx="113115" cy="1131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395FEB56-0015-40C1-B2F7-4DD60423B1B0}"/>
              </a:ext>
            </a:extLst>
          </p:cNvPr>
          <p:cNvCxnSpPr>
            <a:cxnSpLocks/>
          </p:cNvCxnSpPr>
          <p:nvPr/>
        </p:nvCxnSpPr>
        <p:spPr>
          <a:xfrm>
            <a:off x="3010264" y="4577863"/>
            <a:ext cx="834064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C92959E-F82E-49BD-9885-EDDE17F44F1C}"/>
              </a:ext>
            </a:extLst>
          </p:cNvPr>
          <p:cNvSpPr txBox="1"/>
          <p:nvPr/>
        </p:nvSpPr>
        <p:spPr>
          <a:xfrm>
            <a:off x="3267995" y="4521484"/>
            <a:ext cx="1065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B6A0B229-3F7A-4B36-B617-8AF6DE8A003D}"/>
              </a:ext>
            </a:extLst>
          </p:cNvPr>
          <p:cNvCxnSpPr>
            <a:cxnSpLocks/>
          </p:cNvCxnSpPr>
          <p:nvPr/>
        </p:nvCxnSpPr>
        <p:spPr>
          <a:xfrm flipV="1">
            <a:off x="1158127" y="3494785"/>
            <a:ext cx="1" cy="59010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226DCBB6-4AF5-41DE-A28F-5412353BE93A}"/>
              </a:ext>
            </a:extLst>
          </p:cNvPr>
          <p:cNvSpPr txBox="1"/>
          <p:nvPr/>
        </p:nvSpPr>
        <p:spPr>
          <a:xfrm>
            <a:off x="1158127" y="3600761"/>
            <a:ext cx="619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</a:t>
            </a:r>
            <a:r>
              <a:rPr lang="en-US" baseline="-25000" dirty="0" err="1"/>
              <a:t>p</a:t>
            </a:r>
            <a:r>
              <a:rPr lang="en-US" i="1" dirty="0" err="1"/>
              <a:t>e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E0BC1EDD-32ED-49DA-AAAD-36CBE3D57CE6}"/>
              </a:ext>
            </a:extLst>
          </p:cNvPr>
          <p:cNvCxnSpPr>
            <a:cxnSpLocks/>
          </p:cNvCxnSpPr>
          <p:nvPr/>
        </p:nvCxnSpPr>
        <p:spPr>
          <a:xfrm>
            <a:off x="3642817" y="3100025"/>
            <a:ext cx="1007934" cy="22207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="" xmlns:a16="http://schemas.microsoft.com/office/drawing/2014/main" id="{8B619943-1DDE-4A95-9645-24C59113CBB5}"/>
              </a:ext>
            </a:extLst>
          </p:cNvPr>
          <p:cNvCxnSpPr>
            <a:cxnSpLocks/>
          </p:cNvCxnSpPr>
          <p:nvPr/>
        </p:nvCxnSpPr>
        <p:spPr>
          <a:xfrm>
            <a:off x="351472" y="4095928"/>
            <a:ext cx="9077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6E1943DC-97A3-45C5-BF8E-5488E4CA5EB7}"/>
              </a:ext>
            </a:extLst>
          </p:cNvPr>
          <p:cNvCxnSpPr>
            <a:cxnSpLocks/>
          </p:cNvCxnSpPr>
          <p:nvPr/>
        </p:nvCxnSpPr>
        <p:spPr>
          <a:xfrm>
            <a:off x="2360659" y="4577863"/>
            <a:ext cx="649605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1DB46D2B-ECE0-4BAC-BDF3-55CD790AACA0}"/>
              </a:ext>
            </a:extLst>
          </p:cNvPr>
          <p:cNvSpPr txBox="1"/>
          <p:nvPr/>
        </p:nvSpPr>
        <p:spPr>
          <a:xfrm>
            <a:off x="2458936" y="4543454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Δ</a:t>
            </a:r>
            <a:r>
              <a:rPr lang="en-US" i="1" dirty="0"/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854FEB9D-7BF6-4C9E-B246-5B7134222994}"/>
              </a:ext>
            </a:extLst>
          </p:cNvPr>
          <p:cNvSpPr txBox="1"/>
          <p:nvPr/>
        </p:nvSpPr>
        <p:spPr>
          <a:xfrm>
            <a:off x="3924819" y="2856488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349721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823414-6AEF-49A5-8641-1E0C120353F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PD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44E7FB-3100-409A-AE27-4225951FD037}"/>
              </a:ext>
            </a:extLst>
          </p:cNvPr>
          <p:cNvSpPr txBox="1">
            <a:spLocks/>
          </p:cNvSpPr>
          <p:nvPr/>
        </p:nvSpPr>
        <p:spPr>
          <a:xfrm>
            <a:off x="3554104" y="191790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BFA85546-2C82-41D2-A177-CEE3931E6B31}"/>
              </a:ext>
            </a:extLst>
          </p:cNvPr>
          <p:cNvSpPr txBox="1">
            <a:spLocks/>
          </p:cNvSpPr>
          <p:nvPr/>
        </p:nvSpPr>
        <p:spPr>
          <a:xfrm>
            <a:off x="3336388" y="168720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82654D1E-EFCF-43FF-8A80-B076B588AEB4}"/>
              </a:ext>
            </a:extLst>
          </p:cNvPr>
          <p:cNvSpPr txBox="1">
            <a:spLocks/>
          </p:cNvSpPr>
          <p:nvPr/>
        </p:nvSpPr>
        <p:spPr>
          <a:xfrm>
            <a:off x="3406077" y="183984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7B79B16D-ECF0-4EA6-80E4-887767952822}"/>
              </a:ext>
            </a:extLst>
          </p:cNvPr>
          <p:cNvSpPr/>
          <p:nvPr/>
        </p:nvSpPr>
        <p:spPr>
          <a:xfrm rot="21182984">
            <a:off x="991635" y="3844258"/>
            <a:ext cx="7531199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204414F3-6CBE-42EB-B7D6-6EDF6565CF73}"/>
              </a:ext>
            </a:extLst>
          </p:cNvPr>
          <p:cNvSpPr/>
          <p:nvPr/>
        </p:nvSpPr>
        <p:spPr>
          <a:xfrm>
            <a:off x="3575267" y="2669032"/>
            <a:ext cx="1238524" cy="123852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E82CF303-C1CC-4628-B228-55450E232BB9}"/>
              </a:ext>
            </a:extLst>
          </p:cNvPr>
          <p:cNvSpPr/>
          <p:nvPr/>
        </p:nvSpPr>
        <p:spPr>
          <a:xfrm>
            <a:off x="4700676" y="4084889"/>
            <a:ext cx="113115" cy="1131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B343ADB6-3F0B-49C5-8F3B-D726965A96FC}"/>
              </a:ext>
            </a:extLst>
          </p:cNvPr>
          <p:cNvCxnSpPr>
            <a:cxnSpLocks/>
          </p:cNvCxnSpPr>
          <p:nvPr/>
        </p:nvCxnSpPr>
        <p:spPr>
          <a:xfrm flipH="1">
            <a:off x="4251086" y="4587719"/>
            <a:ext cx="562705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8A9E1DD-2A21-4F86-9B64-394935CD4F84}"/>
              </a:ext>
            </a:extLst>
          </p:cNvPr>
          <p:cNvSpPr txBox="1"/>
          <p:nvPr/>
        </p:nvSpPr>
        <p:spPr>
          <a:xfrm>
            <a:off x="4326749" y="4587718"/>
            <a:ext cx="351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A87629F3-3BF6-4DF9-A489-19EC11BDFA53}"/>
              </a:ext>
            </a:extLst>
          </p:cNvPr>
          <p:cNvCxnSpPr>
            <a:cxnSpLocks/>
          </p:cNvCxnSpPr>
          <p:nvPr/>
        </p:nvCxnSpPr>
        <p:spPr>
          <a:xfrm flipV="1">
            <a:off x="4914952" y="3246269"/>
            <a:ext cx="229616" cy="2395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49CB80E5-1F1A-432C-AC62-CF7426BE50ED}"/>
              </a:ext>
            </a:extLst>
          </p:cNvPr>
          <p:cNvCxnSpPr>
            <a:cxnSpLocks/>
          </p:cNvCxnSpPr>
          <p:nvPr/>
        </p:nvCxnSpPr>
        <p:spPr>
          <a:xfrm>
            <a:off x="351472" y="4095928"/>
            <a:ext cx="9077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B95C08F7-8783-4AF9-83E2-F4C8ED42DD63}"/>
              </a:ext>
            </a:extLst>
          </p:cNvPr>
          <p:cNvSpPr txBox="1"/>
          <p:nvPr/>
        </p:nvSpPr>
        <p:spPr>
          <a:xfrm>
            <a:off x="3798217" y="4587719"/>
            <a:ext cx="537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Δ</a:t>
            </a:r>
            <a:r>
              <a:rPr lang="en-US" i="1" dirty="0"/>
              <a:t>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CE74CE20-DC1B-47C0-90DC-0A703863D7DD}"/>
              </a:ext>
            </a:extLst>
          </p:cNvPr>
          <p:cNvCxnSpPr>
            <a:cxnSpLocks/>
          </p:cNvCxnSpPr>
          <p:nvPr/>
        </p:nvCxnSpPr>
        <p:spPr>
          <a:xfrm>
            <a:off x="3798217" y="4587718"/>
            <a:ext cx="383729" cy="2706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A24AC13E-68D7-4A5E-AB5B-EF108FF3BC8D}"/>
              </a:ext>
            </a:extLst>
          </p:cNvPr>
          <p:cNvSpPr txBox="1"/>
          <p:nvPr/>
        </p:nvSpPr>
        <p:spPr>
          <a:xfrm>
            <a:off x="4857310" y="2875736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</a:rPr>
              <a:t>v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="" xmlns:a16="http://schemas.microsoft.com/office/drawing/2014/main" id="{66CCAFBF-DDB4-4779-9096-074A073CA319}"/>
              </a:ext>
            </a:extLst>
          </p:cNvPr>
          <p:cNvCxnSpPr>
            <a:cxnSpLocks/>
          </p:cNvCxnSpPr>
          <p:nvPr/>
        </p:nvCxnSpPr>
        <p:spPr>
          <a:xfrm flipV="1">
            <a:off x="8403792" y="3666952"/>
            <a:ext cx="0" cy="36933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60FC2E0E-5176-42A3-8242-DB4851F5ED6D}"/>
              </a:ext>
            </a:extLst>
          </p:cNvPr>
          <p:cNvSpPr txBox="1"/>
          <p:nvPr/>
        </p:nvSpPr>
        <p:spPr>
          <a:xfrm>
            <a:off x="8403791" y="3666952"/>
            <a:ext cx="1421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</a:t>
            </a:r>
            <a:r>
              <a:rPr lang="en-US" baseline="-25000" dirty="0" err="1"/>
              <a:t>p</a:t>
            </a:r>
            <a:r>
              <a:rPr lang="en-US" i="1" dirty="0" err="1"/>
              <a:t>e</a:t>
            </a:r>
            <a:r>
              <a:rPr lang="en-US" i="1" dirty="0"/>
              <a:t> + </a:t>
            </a:r>
            <a:r>
              <a:rPr lang="en-US" i="1" dirty="0" err="1"/>
              <a:t>K</a:t>
            </a:r>
            <a:r>
              <a:rPr lang="en-US" i="1" baseline="-25000" dirty="0" err="1"/>
              <a:t>d</a:t>
            </a:r>
            <a:r>
              <a:rPr lang="el-GR" dirty="0"/>
              <a:t>Δ</a:t>
            </a:r>
            <a:r>
              <a:rPr lang="en-US" i="1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95308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="" xmlns:a16="http://schemas.microsoft.com/office/drawing/2014/main" id="{110FC68C-5B6F-4138-B4A3-380911A1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PD Control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DECE4C1B-2DA0-44E9-B1EE-06DC7FE89308}"/>
              </a:ext>
            </a:extLst>
          </p:cNvPr>
          <p:cNvSpPr txBox="1">
            <a:spLocks/>
          </p:cNvSpPr>
          <p:nvPr/>
        </p:nvSpPr>
        <p:spPr>
          <a:xfrm>
            <a:off x="3528863" y="183984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9828E15E-27EB-479F-AE9D-1986763F8C61}"/>
              </a:ext>
            </a:extLst>
          </p:cNvPr>
          <p:cNvSpPr txBox="1">
            <a:spLocks/>
          </p:cNvSpPr>
          <p:nvPr/>
        </p:nvSpPr>
        <p:spPr>
          <a:xfrm>
            <a:off x="3336388" y="168720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3F64DEA6-BE6A-40B8-9317-A4CFF06CAC47}"/>
              </a:ext>
            </a:extLst>
          </p:cNvPr>
          <p:cNvSpPr txBox="1">
            <a:spLocks/>
          </p:cNvSpPr>
          <p:nvPr/>
        </p:nvSpPr>
        <p:spPr>
          <a:xfrm>
            <a:off x="3406077" y="183984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0EA95ED5-0A75-45B5-ADBA-98F897343F22}"/>
              </a:ext>
            </a:extLst>
          </p:cNvPr>
          <p:cNvSpPr/>
          <p:nvPr/>
        </p:nvSpPr>
        <p:spPr>
          <a:xfrm>
            <a:off x="991635" y="3844258"/>
            <a:ext cx="7531199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3D49BD39-C558-4E32-AAC0-DCB09FC44C30}"/>
              </a:ext>
            </a:extLst>
          </p:cNvPr>
          <p:cNvSpPr/>
          <p:nvPr/>
        </p:nvSpPr>
        <p:spPr>
          <a:xfrm>
            <a:off x="4137971" y="2605733"/>
            <a:ext cx="1238524" cy="123852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E4A110C9-40D5-4F67-AB72-BA393A36016A}"/>
              </a:ext>
            </a:extLst>
          </p:cNvPr>
          <p:cNvSpPr/>
          <p:nvPr/>
        </p:nvSpPr>
        <p:spPr>
          <a:xfrm>
            <a:off x="4700676" y="4084889"/>
            <a:ext cx="113115" cy="1131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0FAD093A-44CE-4C3F-B0E5-49327FEAA865}"/>
              </a:ext>
            </a:extLst>
          </p:cNvPr>
          <p:cNvCxnSpPr>
            <a:cxnSpLocks/>
          </p:cNvCxnSpPr>
          <p:nvPr/>
        </p:nvCxnSpPr>
        <p:spPr>
          <a:xfrm>
            <a:off x="351472" y="4095928"/>
            <a:ext cx="9077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0606651-10EA-4305-8A37-3EF0F1B5D836}"/>
              </a:ext>
            </a:extLst>
          </p:cNvPr>
          <p:cNvSpPr txBox="1"/>
          <p:nvPr/>
        </p:nvSpPr>
        <p:spPr>
          <a:xfrm>
            <a:off x="4419366" y="4364058"/>
            <a:ext cx="95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</a:t>
            </a:r>
            <a:r>
              <a:rPr lang="en-US" dirty="0"/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71649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283327-63B6-4981-BD62-D0DD72196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Integral 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83BFAAA-CE32-41C9-9532-238EE9EAB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needed for tilt table or cup car steering, but greatly improves cup car speed control</a:t>
            </a:r>
          </a:p>
          <a:p>
            <a:r>
              <a:rPr lang="en-US" dirty="0"/>
              <a:t>Based on accumulated error (i.e. the sum of the error </a:t>
            </a:r>
            <a:r>
              <a:rPr lang="en-US"/>
              <a:t>-&gt; “integral”)</a:t>
            </a:r>
            <a:endParaRPr lang="en-US" dirty="0"/>
          </a:p>
          <a:p>
            <a:r>
              <a:rPr lang="en-US" dirty="0"/>
              <a:t>Eliminates steady-state error, such as when going up or down a hill</a:t>
            </a:r>
          </a:p>
        </p:txBody>
      </p:sp>
    </p:spTree>
    <p:extLst>
      <p:ext uri="{BB962C8B-B14F-4D97-AF65-F5344CB8AC3E}">
        <p14:creationId xmlns:p14="http://schemas.microsoft.com/office/powerpoint/2010/main" val="327842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554037-0BE7-4E74-A7B2-393B79152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Incorporating PID Controller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97C4B44-7066-4521-A6AE-98F02CD13F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Outside of loop:</a:t>
            </a:r>
          </a:p>
          <a:p>
            <a:pPr lvl="1"/>
            <a:r>
              <a:rPr lang="en-US" dirty="0"/>
              <a:t>Call initialization function</a:t>
            </a:r>
          </a:p>
          <a:p>
            <a:pPr lvl="1"/>
            <a:r>
              <a:rPr lang="en-US" dirty="0"/>
              <a:t>Set controller gains</a:t>
            </a:r>
          </a:p>
          <a:p>
            <a:pPr lvl="1"/>
            <a:r>
              <a:rPr lang="en-US" dirty="0"/>
              <a:t>Set controller gain factors (optional)</a:t>
            </a:r>
          </a:p>
          <a:p>
            <a:endParaRPr lang="en-US" dirty="0"/>
          </a:p>
          <a:p>
            <a:r>
              <a:rPr lang="en-US" dirty="0"/>
              <a:t>Inside loop:</a:t>
            </a:r>
          </a:p>
          <a:p>
            <a:pPr lvl="1"/>
            <a:r>
              <a:rPr lang="en-US" dirty="0"/>
              <a:t>Get coordinates from touch panel (x, y values)</a:t>
            </a:r>
          </a:p>
          <a:p>
            <a:pPr lvl="1"/>
            <a:r>
              <a:rPr lang="en-US" dirty="0"/>
              <a:t>Transform to “actual” values</a:t>
            </a:r>
          </a:p>
          <a:p>
            <a:pPr lvl="1"/>
            <a:r>
              <a:rPr lang="en-US" dirty="0"/>
              <a:t>Call PID controller</a:t>
            </a:r>
          </a:p>
          <a:p>
            <a:pPr lvl="1"/>
            <a:r>
              <a:rPr lang="en-US" dirty="0"/>
              <a:t>Update servo with PID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625ED26-55B3-40F6-B070-0646B0A4C67F}"/>
              </a:ext>
            </a:extLst>
          </p:cNvPr>
          <p:cNvSpPr txBox="1"/>
          <p:nvPr/>
        </p:nvSpPr>
        <p:spPr>
          <a:xfrm>
            <a:off x="6172202" y="1562100"/>
            <a:ext cx="537209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10, Ki = 0,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PID    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InitPIDI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InitPIDI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SetPIDIGain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Ki,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SetPIDIGain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Ki,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SetPIDIGainFactor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1, 1, 100);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SetPIDIGainFactor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 1, 1, 100);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(;;)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Px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GetPIDIOutput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x,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GetPIDIOutput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y,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5021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8E4062B-FBD7-481B-B145-D9C66F2F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the Delta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F4886CD-F1E6-45F8-9E37-4E48FAF37A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Delta time is needed by the PID controller.</a:t>
            </a:r>
          </a:p>
          <a:p>
            <a:r>
              <a:rPr lang="en-US" dirty="0"/>
              <a:t>Ideally, the delta time is always the same; this make the PID controller more consistent.</a:t>
            </a:r>
          </a:p>
          <a:p>
            <a:r>
              <a:rPr lang="en-US" dirty="0"/>
              <a:t>However, small variations may occur and it is best to get an accurate delta time.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ECF516F-0BA2-482A-94F9-B9BE7793C43B}"/>
              </a:ext>
            </a:extLst>
          </p:cNvPr>
          <p:cNvSpPr txBox="1"/>
          <p:nvPr/>
        </p:nvSpPr>
        <p:spPr>
          <a:xfrm>
            <a:off x="6934200" y="1930400"/>
            <a:ext cx="3937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time,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for(;;)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time = Ticker[0];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time –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time;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73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A1D3415-E221-486E-97D8-43623F94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the PID Controller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DCD9D4E-E117-4A27-8785-33F6FC4B5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small proportional gain (</a:t>
            </a:r>
            <a:r>
              <a:rPr lang="en-US" dirty="0" err="1"/>
              <a:t>Kp</a:t>
            </a:r>
            <a:r>
              <a:rPr lang="en-US" dirty="0"/>
              <a:t>) only </a:t>
            </a:r>
          </a:p>
          <a:p>
            <a:r>
              <a:rPr lang="en-US" dirty="0"/>
              <a:t>Increase </a:t>
            </a:r>
            <a:r>
              <a:rPr lang="en-US" dirty="0" err="1"/>
              <a:t>Kp</a:t>
            </a:r>
            <a:r>
              <a:rPr lang="en-US" dirty="0"/>
              <a:t> until some oscillation</a:t>
            </a:r>
          </a:p>
          <a:p>
            <a:r>
              <a:rPr lang="en-US" dirty="0"/>
              <a:t>Slowly increase derivative gain (</a:t>
            </a:r>
            <a:r>
              <a:rPr lang="en-US" dirty="0" err="1"/>
              <a:t>Kd</a:t>
            </a:r>
            <a:r>
              <a:rPr lang="en-US" dirty="0"/>
              <a:t>), oscillation should dampen</a:t>
            </a:r>
          </a:p>
          <a:p>
            <a:r>
              <a:rPr lang="en-US" dirty="0"/>
              <a:t>Slowly increase </a:t>
            </a:r>
            <a:r>
              <a:rPr lang="en-US" dirty="0" err="1"/>
              <a:t>Kp</a:t>
            </a:r>
            <a:r>
              <a:rPr lang="en-US" dirty="0"/>
              <a:t> and </a:t>
            </a:r>
            <a:r>
              <a:rPr lang="en-US" dirty="0" err="1"/>
              <a:t>Kd</a:t>
            </a:r>
            <a:r>
              <a:rPr lang="en-US" dirty="0"/>
              <a:t> alternately until desired behavior</a:t>
            </a:r>
          </a:p>
          <a:p>
            <a:pPr lvl="1"/>
            <a:r>
              <a:rPr lang="en-US" dirty="0"/>
              <a:t>Usually more of one is needed than the other, e.g. a small increase in </a:t>
            </a:r>
            <a:r>
              <a:rPr lang="en-US" dirty="0" err="1"/>
              <a:t>Kp</a:t>
            </a:r>
            <a:r>
              <a:rPr lang="en-US" dirty="0"/>
              <a:t> may require a larger increase in </a:t>
            </a:r>
            <a:r>
              <a:rPr lang="en-US" dirty="0" err="1"/>
              <a:t>Kd</a:t>
            </a:r>
            <a:endParaRPr lang="en-US" dirty="0"/>
          </a:p>
          <a:p>
            <a:endParaRPr lang="en-US" i="1" dirty="0"/>
          </a:p>
          <a:p>
            <a:r>
              <a:rPr lang="en-US" i="1" dirty="0"/>
              <a:t>Too much of either </a:t>
            </a:r>
            <a:r>
              <a:rPr lang="en-US" i="1" dirty="0" err="1"/>
              <a:t>Kp</a:t>
            </a:r>
            <a:r>
              <a:rPr lang="en-US" i="1" dirty="0"/>
              <a:t> or </a:t>
            </a:r>
            <a:r>
              <a:rPr lang="en-US" i="1" dirty="0" err="1"/>
              <a:t>Kd</a:t>
            </a:r>
            <a:r>
              <a:rPr lang="en-US" i="1" dirty="0"/>
              <a:t> will result in instability: oscillation out of control. Too little of either will result in inadequate response.</a:t>
            </a:r>
          </a:p>
        </p:txBody>
      </p:sp>
    </p:spTree>
    <p:extLst>
      <p:ext uri="{BB962C8B-B14F-4D97-AF65-F5344CB8AC3E}">
        <p14:creationId xmlns:p14="http://schemas.microsoft.com/office/powerpoint/2010/main" val="245844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8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5A265C2B-392A-4BE0-AC63-CC714D9A7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 Output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0FC3A006-AC2E-45E3-915A-E4F013B1C5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1 row x 128 pixels</a:t>
            </a:r>
          </a:p>
          <a:p>
            <a:endParaRPr lang="en-US" dirty="0"/>
          </a:p>
          <a:p>
            <a:r>
              <a:rPr lang="en-US" dirty="0"/>
              <a:t>Need to identify the edges</a:t>
            </a:r>
          </a:p>
          <a:p>
            <a:r>
              <a:rPr lang="en-US" dirty="0"/>
              <a:t>Noise reduction would also be helpful!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1EA6036D-CB14-4C36-87BE-94E2E38092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200"/>
          </a:xfrm>
        </p:spPr>
      </p:pic>
    </p:spTree>
    <p:extLst>
      <p:ext uri="{BB962C8B-B14F-4D97-AF65-F5344CB8AC3E}">
        <p14:creationId xmlns:p14="http://schemas.microsoft.com/office/powerpoint/2010/main" val="127269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0BE0F6-7C2F-4145-8566-BD6C23E1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Sobel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07418C5-D761-4F5C-A5F8-E83B704B9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r>
              <a:rPr lang="en-US" dirty="0"/>
              <a:t>Convolve image data with a simple vector: [ 1   2   0  -2  -1 ]</a:t>
            </a:r>
          </a:p>
          <a:p>
            <a:endParaRPr lang="en-US" dirty="0"/>
          </a:p>
          <a:p>
            <a:r>
              <a:rPr lang="en-US" dirty="0"/>
              <a:t>Computes derivative and smooths out noise in one operation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1916E0BE-87DB-4DA9-A8C2-11789ED26F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200"/>
          </a:xfrm>
        </p:spPr>
      </p:pic>
    </p:spTree>
    <p:extLst>
      <p:ext uri="{BB962C8B-B14F-4D97-AF65-F5344CB8AC3E}">
        <p14:creationId xmlns:p14="http://schemas.microsoft.com/office/powerpoint/2010/main" val="222242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AD6F987F-1E26-47E5-9078-E26D48BC4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Sobel (cont.)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B34C935B-6973-4B87-9017-592DC22B6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6171" cy="4351338"/>
          </a:xfrm>
        </p:spPr>
        <p:txBody>
          <a:bodyPr/>
          <a:lstStyle/>
          <a:p>
            <a:r>
              <a:rPr lang="en-US" dirty="0"/>
              <a:t>Sample code</a:t>
            </a:r>
          </a:p>
          <a:p>
            <a:endParaRPr lang="en-US" dirty="0"/>
          </a:p>
          <a:p>
            <a:r>
              <a:rPr lang="en-US" dirty="0"/>
              <a:t>Two for loops to perform the convolution.</a:t>
            </a:r>
          </a:p>
          <a:p>
            <a:r>
              <a:rPr lang="en-US" dirty="0"/>
              <a:t> Result is truncated to fit same size array as original (int[128]).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B1DA6DA-F3C1-4CEA-82B5-A68744640769}"/>
              </a:ext>
            </a:extLst>
          </p:cNvPr>
          <p:cNvSpPr txBox="1"/>
          <p:nvPr/>
        </p:nvSpPr>
        <p:spPr>
          <a:xfrm>
            <a:off x="6019800" y="1879917"/>
            <a:ext cx="50292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	</a:t>
            </a:r>
            <a:r>
              <a:rPr lang="en-US" dirty="0"/>
              <a:t>// Sobel operator: original image is </a:t>
            </a:r>
            <a:r>
              <a:rPr lang="en-US" dirty="0" err="1"/>
              <a:t>img</a:t>
            </a:r>
            <a:r>
              <a:rPr lang="en-US" dirty="0"/>
              <a:t>[]</a:t>
            </a:r>
          </a:p>
          <a:p>
            <a:r>
              <a:rPr lang="en-US" dirty="0"/>
              <a:t>	// Output is D1[]</a:t>
            </a:r>
          </a:p>
          <a:p>
            <a:endParaRPr lang="en-US" dirty="0"/>
          </a:p>
          <a:p>
            <a:r>
              <a:rPr lang="en-US" dirty="0"/>
              <a:t>	int   </a:t>
            </a:r>
            <a:r>
              <a:rPr lang="en-US" dirty="0" err="1"/>
              <a:t>sobel</a:t>
            </a:r>
            <a:r>
              <a:rPr lang="en-US" dirty="0"/>
              <a:t>[5] = {1, 2, 0, -2, -1};</a:t>
            </a:r>
          </a:p>
          <a:p>
            <a:r>
              <a:rPr lang="en-US" dirty="0"/>
              <a:t>	int   </a:t>
            </a:r>
            <a:r>
              <a:rPr lang="en-US" dirty="0" err="1"/>
              <a:t>i</a:t>
            </a:r>
            <a:r>
              <a:rPr lang="en-US" dirty="0"/>
              <a:t>, j;</a:t>
            </a:r>
          </a:p>
          <a:p>
            <a:r>
              <a:rPr lang="en-US" dirty="0"/>
              <a:t>	int   D1[128];</a:t>
            </a:r>
          </a:p>
          <a:p>
            <a:r>
              <a:rPr lang="en-US" dirty="0"/>
              <a:t>                 </a:t>
            </a:r>
          </a:p>
          <a:p>
            <a:r>
              <a:rPr lang="en-US" dirty="0"/>
              <a:t>	</a:t>
            </a:r>
            <a:r>
              <a:rPr lang="en-US" dirty="0" err="1"/>
              <a:t>memset</a:t>
            </a:r>
            <a:r>
              <a:rPr lang="en-US" dirty="0"/>
              <a:t>(D1, 0, </a:t>
            </a:r>
            <a:r>
              <a:rPr lang="en-US" dirty="0" err="1"/>
              <a:t>sizeof</a:t>
            </a:r>
            <a:r>
              <a:rPr lang="en-US" dirty="0"/>
              <a:t>(D1));</a:t>
            </a:r>
          </a:p>
          <a:p>
            <a:endParaRPr lang="en-US" dirty="0"/>
          </a:p>
          <a:p>
            <a:r>
              <a:rPr lang="en-US" dirty="0"/>
              <a:t>	for (</a:t>
            </a:r>
            <a:r>
              <a:rPr lang="en-US" dirty="0" err="1"/>
              <a:t>i</a:t>
            </a:r>
            <a:r>
              <a:rPr lang="en-US" dirty="0"/>
              <a:t> = 2; </a:t>
            </a:r>
            <a:r>
              <a:rPr lang="en-US" dirty="0" err="1"/>
              <a:t>i</a:t>
            </a:r>
            <a:r>
              <a:rPr lang="en-US" dirty="0"/>
              <a:t> &lt; 125;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	{</a:t>
            </a:r>
          </a:p>
          <a:p>
            <a:r>
              <a:rPr lang="en-US" dirty="0"/>
              <a:t>	     for (j = 0; j &lt; 5; 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/>
              <a:t>	     {</a:t>
            </a:r>
          </a:p>
          <a:p>
            <a:r>
              <a:rPr lang="en-US" dirty="0"/>
              <a:t>	          D1[</a:t>
            </a:r>
            <a:r>
              <a:rPr lang="en-US" dirty="0" err="1"/>
              <a:t>i</a:t>
            </a:r>
            <a:r>
              <a:rPr lang="en-US" dirty="0"/>
              <a:t>] += </a:t>
            </a:r>
            <a:r>
              <a:rPr lang="en-US" dirty="0" err="1"/>
              <a:t>sobel</a:t>
            </a:r>
            <a:r>
              <a:rPr lang="en-US" dirty="0"/>
              <a:t>[j] * </a:t>
            </a:r>
            <a:r>
              <a:rPr lang="en-US" dirty="0" err="1"/>
              <a:t>img</a:t>
            </a:r>
            <a:r>
              <a:rPr lang="en-US" dirty="0"/>
              <a:t>[i+j-2];</a:t>
            </a:r>
          </a:p>
          <a:p>
            <a:r>
              <a:rPr lang="en-US" dirty="0"/>
              <a:t>	      }</a:t>
            </a:r>
          </a:p>
          <a:p>
            <a:r>
              <a:rPr lang="en-US" dirty="0"/>
              <a:t>                  }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549479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CCA60D-B2A2-4F27-93EA-09457985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F642E2-BE1E-42DE-9DC6-705BEFD5F9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Pick a threshold value. 75% of maximum is a good starting point.</a:t>
            </a:r>
          </a:p>
          <a:p>
            <a:r>
              <a:rPr lang="en-US" dirty="0"/>
              <a:t>The left side will be the opposite sign of the right side. This is useful to know which line you are working with.</a:t>
            </a:r>
          </a:p>
          <a:p>
            <a:r>
              <a:rPr lang="en-US" dirty="0"/>
              <a:t>Scan the derivative for a value exceeding the threshold. The indices represent the edge lines.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F8E060FB-F597-48C7-8726-55C89BDC15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200"/>
          </a:xfrm>
        </p:spPr>
      </p:pic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BF97B020-9C91-4673-AC6D-F53A352FDCED}"/>
              </a:ext>
            </a:extLst>
          </p:cNvPr>
          <p:cNvCxnSpPr>
            <a:cxnSpLocks/>
          </p:cNvCxnSpPr>
          <p:nvPr/>
        </p:nvCxnSpPr>
        <p:spPr>
          <a:xfrm flipV="1">
            <a:off x="8730343" y="3429000"/>
            <a:ext cx="0" cy="20900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CB6392D8-D5E2-49D7-8410-ADC3C2210880}"/>
              </a:ext>
            </a:extLst>
          </p:cNvPr>
          <p:cNvSpPr txBox="1"/>
          <p:nvPr/>
        </p:nvSpPr>
        <p:spPr>
          <a:xfrm>
            <a:off x="8730343" y="4985658"/>
            <a:ext cx="446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045210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ED9922-3EFE-4564-8536-1B898458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only one edge is visible?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9F6647BD-314B-4596-8614-00136EC40C1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Use an approximation, based on centered values.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13+117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=65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Each edge is approx. 52 from the center (in this example).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65−13=52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65 −117=−52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93−52=41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Your values will be different, based on camera position!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6647BD-314B-4596-8614-00136EC40C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882" t="-3501" r="-1294" b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8557C416-1ABF-4341-BF3F-9CC93CC4E3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200"/>
          </a:xfrm>
        </p:spPr>
      </p:pic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1BF85DF9-E834-4D30-911F-31ACB33B611C}"/>
              </a:ext>
            </a:extLst>
          </p:cNvPr>
          <p:cNvCxnSpPr/>
          <p:nvPr/>
        </p:nvCxnSpPr>
        <p:spPr>
          <a:xfrm flipV="1">
            <a:off x="8033656" y="3429000"/>
            <a:ext cx="0" cy="21118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80CDAB53-8F64-4143-BF82-5381C118B6F4}"/>
              </a:ext>
            </a:extLst>
          </p:cNvPr>
          <p:cNvSpPr txBox="1"/>
          <p:nvPr/>
        </p:nvSpPr>
        <p:spPr>
          <a:xfrm>
            <a:off x="8033656" y="5072743"/>
            <a:ext cx="457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540072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A4AEA2-14C9-4C12-8CEF-DEA778EC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Steering PID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054805E9-3CF4-4C01-94D3-4E07757DA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 results as input into PD controller, just like with tilt table.</a:t>
            </a:r>
          </a:p>
          <a:p>
            <a:r>
              <a:rPr lang="en-US" dirty="0"/>
              <a:t>Scale the output to match servo PWM control. You’ll have to experiment with that value.</a:t>
            </a:r>
          </a:p>
          <a:p>
            <a:endParaRPr lang="en-US" dirty="0"/>
          </a:p>
          <a:p>
            <a:r>
              <a:rPr lang="en-US" dirty="0"/>
              <a:t>Tune steering PD control in similar manner to tilt table.</a:t>
            </a:r>
          </a:p>
          <a:p>
            <a:endParaRPr lang="en-US" dirty="0"/>
          </a:p>
          <a:p>
            <a:r>
              <a:rPr lang="en-US" dirty="0"/>
              <a:t>Maintain camera at fixed point ahead of vehicle. </a:t>
            </a:r>
          </a:p>
          <a:p>
            <a:pPr lvl="1"/>
            <a:r>
              <a:rPr lang="en-US" dirty="0"/>
              <a:t>It should not be too far ahead; start with 6-8 inches. </a:t>
            </a:r>
          </a:p>
          <a:p>
            <a:pPr lvl="1"/>
            <a:r>
              <a:rPr lang="en-US" dirty="0"/>
              <a:t>If you are frequently changing the look-ahead distance, you’ll find it very difficult to tune the controller.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756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9B5637-CEE2-44D1-AA0A-9C585DB4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5C98227-3CE1-4456-B1A5-4336CB528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have questions or problems getting the tilt table or cup car working, contact me at: </a:t>
            </a:r>
            <a:r>
              <a:rPr lang="en-US" dirty="0">
                <a:hlinkClick r:id="rId2"/>
              </a:rPr>
              <a:t>bob@applonie.net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09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4470</TotalTime>
  <Words>957</Words>
  <Application>Microsoft Office PowerPoint</Application>
  <PresentationFormat>Widescreen</PresentationFormat>
  <Paragraphs>256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Courier New</vt:lpstr>
      <vt:lpstr>Office Theme</vt:lpstr>
      <vt:lpstr>Control for the Tilt Table and Cup Car</vt:lpstr>
      <vt:lpstr>Topics</vt:lpstr>
      <vt:lpstr>Calibrating the Touch Panel</vt:lpstr>
      <vt:lpstr>Linear Algebra Is Your Friend</vt:lpstr>
      <vt:lpstr>Example</vt:lpstr>
      <vt:lpstr>Example (cont.)</vt:lpstr>
      <vt:lpstr>Calibration Transform</vt:lpstr>
      <vt:lpstr>PID Control</vt:lpstr>
      <vt:lpstr>Tilt table control</vt:lpstr>
      <vt:lpstr>Proportional Control</vt:lpstr>
      <vt:lpstr>Proportional Control</vt:lpstr>
      <vt:lpstr>PowerPoint Presentation</vt:lpstr>
      <vt:lpstr>PowerPoint Presentation</vt:lpstr>
      <vt:lpstr>PowerPoint Presentation</vt:lpstr>
      <vt:lpstr>PowerPoint Presentation</vt:lpstr>
      <vt:lpstr>Proportional-Derivative (PD) Control</vt:lpstr>
      <vt:lpstr>PD Control</vt:lpstr>
      <vt:lpstr>PowerPoint Presentation</vt:lpstr>
      <vt:lpstr>PowerPoint Presentation</vt:lpstr>
      <vt:lpstr>PD Control</vt:lpstr>
      <vt:lpstr>Integral Term</vt:lpstr>
      <vt:lpstr>Incorporating PID Controller </vt:lpstr>
      <vt:lpstr>Getting the Delta Time</vt:lpstr>
      <vt:lpstr>Tuning the PID Controller </vt:lpstr>
      <vt:lpstr>Questions</vt:lpstr>
      <vt:lpstr>Camera Output</vt:lpstr>
      <vt:lpstr>Sobel Operator</vt:lpstr>
      <vt:lpstr>Sobel (cont.)</vt:lpstr>
      <vt:lpstr>Thresholding</vt:lpstr>
      <vt:lpstr>What if only one edge is visible?</vt:lpstr>
      <vt:lpstr>Steering PID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Bob Applonie</dc:creator>
  <cp:lastModifiedBy>Docmo9</cp:lastModifiedBy>
  <cp:revision>69</cp:revision>
  <dcterms:created xsi:type="dcterms:W3CDTF">2019-01-28T21:17:35Z</dcterms:created>
  <dcterms:modified xsi:type="dcterms:W3CDTF">2021-03-31T05:48:49Z</dcterms:modified>
</cp:coreProperties>
</file>