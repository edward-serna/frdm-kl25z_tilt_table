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9" r:id="rId10"/>
    <p:sldId id="288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2810EBC-FC0A-4E89-B735-BC4F1357C36E}" type="datetimeFigureOut">
              <a:rPr lang="en-US" smtClean="0"/>
              <a:pPr/>
              <a:t>3/19/2023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5A7DFABD-F3B3-4FDF-8252-2D59C5DD6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 4583 Micro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January 21</a:t>
            </a:r>
          </a:p>
          <a:p>
            <a:r>
              <a:rPr lang="en-US" dirty="0"/>
              <a:t>Dr. Paul Morton</a:t>
            </a:r>
          </a:p>
        </p:txBody>
      </p:sp>
    </p:spTree>
    <p:extLst>
      <p:ext uri="{BB962C8B-B14F-4D97-AF65-F5344CB8AC3E}">
        <p14:creationId xmlns:p14="http://schemas.microsoft.com/office/powerpoint/2010/main" val="148178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92BF-F9F9-EBE6-ECFB-79E477AB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Key Points of the Tilt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31E9-4EBD-E9CB-2A0D-8FB3130C4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between </a:t>
            </a:r>
            <a:r>
              <a:rPr lang="en-US" dirty="0" err="1"/>
              <a:t>printf</a:t>
            </a:r>
            <a:r>
              <a:rPr lang="en-US" dirty="0"/>
              <a:t> and PRINTF</a:t>
            </a:r>
          </a:p>
          <a:p>
            <a:pPr lvl="1"/>
            <a:r>
              <a:rPr lang="en-US" dirty="0"/>
              <a:t>Set up with UART and Semihosting Console vs no drivers specified</a:t>
            </a:r>
          </a:p>
          <a:p>
            <a:r>
              <a:rPr lang="en-US" dirty="0"/>
              <a:t>Problem with printing </a:t>
            </a:r>
            <a:r>
              <a:rPr lang="en-US" dirty="0" err="1"/>
              <a:t>Negativies</a:t>
            </a:r>
            <a:endParaRPr lang="en-US" dirty="0"/>
          </a:p>
          <a:p>
            <a:pPr lvl="1"/>
            <a:r>
              <a:rPr lang="en-US" dirty="0"/>
              <a:t>2 different fixes</a:t>
            </a:r>
          </a:p>
          <a:p>
            <a:r>
              <a:rPr lang="en-US" dirty="0"/>
              <a:t>The mapping from Raw XY values to Servo outputs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13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95D2-252C-23D6-14A4-49A9C2D7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0064-0874-F44F-7D0C-F39C7897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to use PRINTF unless you provide a driver that directs the output to the UART0</a:t>
            </a:r>
          </a:p>
          <a:p>
            <a:r>
              <a:rPr lang="en-US" dirty="0"/>
              <a:t>PRINTF will not print signed numbers by default</a:t>
            </a:r>
          </a:p>
          <a:p>
            <a:pPr lvl="1"/>
            <a:r>
              <a:rPr lang="en-US" dirty="0"/>
              <a:t>Can use a workaround hack:</a:t>
            </a:r>
          </a:p>
          <a:p>
            <a:pPr marL="0" indent="0" algn="l">
              <a:buNone/>
            </a:pPr>
            <a:r>
              <a:rPr lang="pt-BR" sz="2000" dirty="0">
                <a:solidFill>
                  <a:srgbClr val="3F7F5F"/>
                </a:solidFill>
                <a:latin typeface="Courier New" panose="02070309020205020404" pitchFamily="49" charset="0"/>
              </a:rPr>
              <a:t>PRINTF("Pos  %4ul %4ul Servos %c%d c%d\r\n",g_X_Cal, g_Y_Cal,</a:t>
            </a:r>
            <a:r>
              <a:rPr lang="fr-FR" sz="2000" dirty="0" err="1">
                <a:solidFill>
                  <a:srgbClr val="3F7F5F"/>
                </a:solidFill>
                <a:latin typeface="Courier New" panose="02070309020205020404" pitchFamily="49" charset="0"/>
              </a:rPr>
              <a:t>g_Xout</a:t>
            </a:r>
            <a:r>
              <a:rPr lang="fr-FR" sz="2000" dirty="0">
                <a:solidFill>
                  <a:srgbClr val="3F7F5F"/>
                </a:solidFill>
                <a:latin typeface="Courier New" panose="02070309020205020404" pitchFamily="49" charset="0"/>
              </a:rPr>
              <a:t>  &lt; 0 ? '-' : ' ', (uint32_t) </a:t>
            </a:r>
            <a:r>
              <a:rPr lang="fr-FR" sz="2000" dirty="0" err="1">
                <a:solidFill>
                  <a:srgbClr val="3F7F5F"/>
                </a:solidFill>
                <a:latin typeface="Courier New" panose="02070309020205020404" pitchFamily="49" charset="0"/>
              </a:rPr>
              <a:t>g_XOut</a:t>
            </a:r>
            <a:r>
              <a:rPr lang="fr-FR" sz="2000" dirty="0">
                <a:solidFill>
                  <a:srgbClr val="3F7F5F"/>
                </a:solidFill>
                <a:latin typeface="Courier New" panose="02070309020205020404" pitchFamily="49" charset="0"/>
              </a:rPr>
              <a:t>,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F7F5F"/>
                </a:solidFill>
                <a:latin typeface="Courier New" panose="02070309020205020404" pitchFamily="49" charset="0"/>
              </a:rPr>
              <a:t>       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g_YOut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  &lt; 0 ? '-' : ' ', (uint32_t)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g_YOut</a:t>
            </a:r>
            <a:r>
              <a:rPr lang="en-US" sz="2000" dirty="0">
                <a:solidFill>
                  <a:srgbClr val="3F7F5F"/>
                </a:solidFill>
                <a:latin typeface="Courier New" panose="02070309020205020404" pitchFamily="49" charset="0"/>
              </a:rPr>
              <a:t> );</a:t>
            </a:r>
          </a:p>
          <a:p>
            <a:pPr lvl="1"/>
            <a:r>
              <a:rPr lang="en-US" dirty="0"/>
              <a:t>Can change in properties:</a:t>
            </a:r>
          </a:p>
        </p:txBody>
      </p:sp>
    </p:spTree>
    <p:extLst>
      <p:ext uri="{BB962C8B-B14F-4D97-AF65-F5344CB8AC3E}">
        <p14:creationId xmlns:p14="http://schemas.microsoft.com/office/powerpoint/2010/main" val="93263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C5B33B6-63CB-246C-0CF4-EEE1D179F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5222"/>
            <a:ext cx="8315325" cy="542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DE40F26-BFA9-10AF-980A-A47623F9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in Properties  (Diff system)</a:t>
            </a:r>
          </a:p>
        </p:txBody>
      </p:sp>
    </p:spTree>
    <p:extLst>
      <p:ext uri="{BB962C8B-B14F-4D97-AF65-F5344CB8AC3E}">
        <p14:creationId xmlns:p14="http://schemas.microsoft.com/office/powerpoint/2010/main" val="83431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BE51-0415-363C-A4CD-2EE4D02F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761CA-9EF7-47DA-08DA-ED3E72F9A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28800"/>
            <a:ext cx="1770088" cy="1423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D6B18-4DC9-85EC-CEAD-6FEDEAB95700}"/>
              </a:ext>
            </a:extLst>
          </p:cNvPr>
          <p:cNvSpPr txBox="1"/>
          <p:nvPr/>
        </p:nvSpPr>
        <p:spPr>
          <a:xfrm>
            <a:off x="498348" y="3581400"/>
            <a:ext cx="1273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 Raw XY</a:t>
            </a:r>
          </a:p>
          <a:p>
            <a:pPr algn="ctr"/>
            <a:r>
              <a:rPr lang="en-US" dirty="0"/>
              <a:t>From 100 to 3500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A7AD42C-C929-DD23-B237-5DE4F28923B3}"/>
              </a:ext>
            </a:extLst>
          </p:cNvPr>
          <p:cNvSpPr/>
          <p:nvPr/>
        </p:nvSpPr>
        <p:spPr>
          <a:xfrm>
            <a:off x="2096624" y="2414550"/>
            <a:ext cx="381000" cy="278625"/>
          </a:xfrm>
          <a:prstGeom prst="rightArrow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2E3A9A4-592D-828A-E33B-6D4FBF72040B}"/>
              </a:ext>
            </a:extLst>
          </p:cNvPr>
          <p:cNvSpPr/>
          <p:nvPr/>
        </p:nvSpPr>
        <p:spPr>
          <a:xfrm>
            <a:off x="3869329" y="2401462"/>
            <a:ext cx="381000" cy="278625"/>
          </a:xfrm>
          <a:prstGeom prst="rightArrow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202164A-AF8C-D684-1E31-D998CBCDEDDE}"/>
              </a:ext>
            </a:extLst>
          </p:cNvPr>
          <p:cNvSpPr/>
          <p:nvPr/>
        </p:nvSpPr>
        <p:spPr>
          <a:xfrm>
            <a:off x="6481034" y="2400774"/>
            <a:ext cx="381000" cy="278625"/>
          </a:xfrm>
          <a:prstGeom prst="rightArrow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The MockUp - 10+ Guidelines for Better Tables in R">
            <a:extLst>
              <a:ext uri="{FF2B5EF4-FFF2-40B4-BE49-F238E27FC236}">
                <a16:creationId xmlns:a16="http://schemas.microsoft.com/office/drawing/2014/main" id="{F21BD83C-C117-2B47-B8DD-45195AE51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57723"/>
            <a:ext cx="1165353" cy="87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538E3B-FBF2-C592-CD2B-C06B01AE6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641" y="2230171"/>
            <a:ext cx="2106463" cy="8984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2E8644-502B-FE01-0E95-9FA95274A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274" y="1947230"/>
            <a:ext cx="1619250" cy="11661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E5184E-2A8F-F65C-D5B8-8267535A05F0}"/>
              </a:ext>
            </a:extLst>
          </p:cNvPr>
          <p:cNvSpPr txBox="1"/>
          <p:nvPr/>
        </p:nvSpPr>
        <p:spPr>
          <a:xfrm>
            <a:off x="2389598" y="3581400"/>
            <a:ext cx="1496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 Calibrated XY</a:t>
            </a:r>
          </a:p>
          <a:p>
            <a:pPr algn="ctr"/>
            <a:r>
              <a:rPr lang="en-US" dirty="0"/>
              <a:t>0 to 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226BF-6228-0792-F5DF-536A1C959DA1}"/>
              </a:ext>
            </a:extLst>
          </p:cNvPr>
          <p:cNvSpPr txBox="1"/>
          <p:nvPr/>
        </p:nvSpPr>
        <p:spPr>
          <a:xfrm>
            <a:off x="4791896" y="3581400"/>
            <a:ext cx="1273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 PID Outputs</a:t>
            </a:r>
          </a:p>
          <a:p>
            <a:pPr algn="ctr"/>
            <a:r>
              <a:rPr lang="en-US" dirty="0"/>
              <a:t>+/- 30 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5EB31-DAC2-42E3-AC13-7D151FDEF5AF}"/>
              </a:ext>
            </a:extLst>
          </p:cNvPr>
          <p:cNvSpPr txBox="1"/>
          <p:nvPr/>
        </p:nvSpPr>
        <p:spPr>
          <a:xfrm>
            <a:off x="7010400" y="3581400"/>
            <a:ext cx="144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4. Servo Commands</a:t>
            </a:r>
          </a:p>
          <a:p>
            <a:pPr algn="ctr"/>
            <a:r>
              <a:rPr lang="en-US" dirty="0"/>
              <a:t>Level + PID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D4A45-8378-BCF3-C9AB-3405A6D0CDC3}"/>
              </a:ext>
            </a:extLst>
          </p:cNvPr>
          <p:cNvSpPr txBox="1"/>
          <p:nvPr/>
        </p:nvSpPr>
        <p:spPr>
          <a:xfrm>
            <a:off x="685800" y="4986984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covered the calibration and PID functions, but what about the servo commands?</a:t>
            </a:r>
          </a:p>
        </p:txBody>
      </p:sp>
    </p:spTree>
    <p:extLst>
      <p:ext uri="{BB962C8B-B14F-4D97-AF65-F5344CB8AC3E}">
        <p14:creationId xmlns:p14="http://schemas.microsoft.com/office/powerpoint/2010/main" val="235998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24F2-28B0-0475-8DD7-C220D385A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140D5-CB54-B8EA-4FF9-313CEA485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servo can move from level about +/- 30 servo units</a:t>
            </a:r>
          </a:p>
          <a:p>
            <a:pPr lvl="1"/>
            <a:r>
              <a:rPr lang="en-US" dirty="0"/>
              <a:t>The minimum down position could be 60 to 90 and the maximum up position should be 130 to 160 giving a range of 60-80</a:t>
            </a:r>
          </a:p>
          <a:p>
            <a:pPr lvl="2"/>
            <a:r>
              <a:rPr lang="en-US" dirty="0"/>
              <a:t>For my table I used 60 for my range</a:t>
            </a:r>
          </a:p>
          <a:p>
            <a:r>
              <a:rPr lang="en-US" dirty="0"/>
              <a:t>Establish the level position for X and Y: Mine are 103/110</a:t>
            </a:r>
          </a:p>
          <a:p>
            <a:r>
              <a:rPr lang="en-US" dirty="0"/>
              <a:t>My servos both work backward—So for me with so the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ServoX_Dir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1 </a:t>
            </a:r>
            <a:r>
              <a:rPr lang="en-US" dirty="0"/>
              <a:t>and not 0</a:t>
            </a:r>
          </a:p>
          <a:p>
            <a:r>
              <a:rPr lang="en-US" dirty="0"/>
              <a:t>The output of the PID will be a + or – correction.</a:t>
            </a:r>
          </a:p>
          <a:p>
            <a:pPr lvl="1"/>
            <a:r>
              <a:rPr lang="en-US" dirty="0"/>
              <a:t>We’ll cover some considerations for adjustment next</a:t>
            </a:r>
          </a:p>
          <a:p>
            <a:pPr lvl="1"/>
            <a:r>
              <a:rPr lang="en-US" dirty="0"/>
              <a:t>If we just consider a proportional output only then we can calculate the value of </a:t>
            </a:r>
            <a:r>
              <a:rPr lang="en-US" dirty="0" err="1"/>
              <a:t>kp</a:t>
            </a:r>
            <a:r>
              <a:rPr lang="en-US" dirty="0"/>
              <a:t> gain that will give +/- 30 across the entire 0 to 2000</a:t>
            </a:r>
          </a:p>
        </p:txBody>
      </p:sp>
    </p:spTree>
    <p:extLst>
      <p:ext uri="{BB962C8B-B14F-4D97-AF65-F5344CB8AC3E}">
        <p14:creationId xmlns:p14="http://schemas.microsoft.com/office/powerpoint/2010/main" val="2723069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09F2-BCD8-01F7-0805-FC9986B3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Kp</a:t>
            </a:r>
            <a:r>
              <a:rPr lang="en-US" dirty="0"/>
              <a:t> Gain Calculate Max Servo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E43A-4A48-47A3-0C07-948E3EE0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76" y="1600200"/>
            <a:ext cx="8382000" cy="48768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Kp</a:t>
            </a:r>
            <a:r>
              <a:rPr lang="en-US" dirty="0"/>
              <a:t> * Max Error = 30</a:t>
            </a:r>
          </a:p>
          <a:p>
            <a:pPr marL="0" indent="0">
              <a:buNone/>
            </a:pPr>
            <a:r>
              <a:rPr lang="en-US" dirty="0"/>
              <a:t>Max Error = 1000 – 0 or  1000 – 2000 =  +/- 1000</a:t>
            </a:r>
          </a:p>
          <a:p>
            <a:pPr marL="0" indent="0">
              <a:buNone/>
            </a:pPr>
            <a:r>
              <a:rPr lang="en-US" dirty="0" err="1"/>
              <a:t>Kp</a:t>
            </a:r>
            <a:r>
              <a:rPr lang="en-US" dirty="0"/>
              <a:t> = 30 / 1000 = 0.03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>
                <a:solidFill>
                  <a:srgbClr val="FF0000"/>
                </a:solidFill>
              </a:rPr>
              <a:t>Your calculations may be different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set the </a:t>
            </a:r>
            <a:r>
              <a:rPr lang="en-US" dirty="0" err="1"/>
              <a:t>Kp</a:t>
            </a:r>
            <a:r>
              <a:rPr lang="en-US" dirty="0"/>
              <a:t> = 0.03 for X and Y and other gains = 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Have to fix the integral to be 0 if Ki = 0 (add if statement)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Then run table and we should get the max table movement at the edges for both X and Y and level in center</a:t>
            </a:r>
          </a:p>
        </p:txBody>
      </p:sp>
    </p:spTree>
    <p:extLst>
      <p:ext uri="{BB962C8B-B14F-4D97-AF65-F5344CB8AC3E}">
        <p14:creationId xmlns:p14="http://schemas.microsoft.com/office/powerpoint/2010/main" val="386040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7223-A680-CE3E-FF53-0E62DA0C9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</a:t>
            </a:r>
            <a:r>
              <a:rPr lang="en-US" dirty="0" err="1"/>
              <a:t>kp</a:t>
            </a:r>
            <a:r>
              <a:rPr lang="en-US" dirty="0"/>
              <a:t> gain to give the max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B462A-B70A-EB7B-7CA5-B25AC478A26D}"/>
              </a:ext>
            </a:extLst>
          </p:cNvPr>
          <p:cNvSpPr/>
          <p:nvPr/>
        </p:nvSpPr>
        <p:spPr>
          <a:xfrm>
            <a:off x="762000" y="2589098"/>
            <a:ext cx="7620000" cy="35814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57150"/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A9FFD-2D2F-BA6A-A6F8-6DAE87A1C7AD}"/>
              </a:ext>
            </a:extLst>
          </p:cNvPr>
          <p:cNvSpPr txBox="1"/>
          <p:nvPr/>
        </p:nvSpPr>
        <p:spPr>
          <a:xfrm>
            <a:off x="478536" y="556699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CEA31-D05D-D763-591D-AE52CE671FAC}"/>
              </a:ext>
            </a:extLst>
          </p:cNvPr>
          <p:cNvSpPr txBox="1"/>
          <p:nvPr/>
        </p:nvSpPr>
        <p:spPr>
          <a:xfrm>
            <a:off x="914400" y="296731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0,2000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3580A-6457-E3E7-6DA9-D29FB9B34E0E}"/>
              </a:ext>
            </a:extLst>
          </p:cNvPr>
          <p:cNvSpPr txBox="1"/>
          <p:nvPr/>
        </p:nvSpPr>
        <p:spPr>
          <a:xfrm>
            <a:off x="7734300" y="556089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2000,0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DC72E-0F22-182B-8005-D21236FBC5E6}"/>
              </a:ext>
            </a:extLst>
          </p:cNvPr>
          <p:cNvSpPr txBox="1"/>
          <p:nvPr/>
        </p:nvSpPr>
        <p:spPr>
          <a:xfrm>
            <a:off x="6934200" y="296731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2000,2000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C3D29-B018-B347-FDDC-1A36B497C209}"/>
              </a:ext>
            </a:extLst>
          </p:cNvPr>
          <p:cNvSpPr txBox="1"/>
          <p:nvPr/>
        </p:nvSpPr>
        <p:spPr>
          <a:xfrm>
            <a:off x="3581400" y="411309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1000,1000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D13F2-7BB3-282A-C4F1-041C50AAFC13}"/>
              </a:ext>
            </a:extLst>
          </p:cNvPr>
          <p:cNvSpPr txBox="1"/>
          <p:nvPr/>
        </p:nvSpPr>
        <p:spPr>
          <a:xfrm>
            <a:off x="3081528" y="437979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Servo Level X, Level 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BEF7A-0F9B-5D74-E6FF-6656D157945D}"/>
              </a:ext>
            </a:extLst>
          </p:cNvPr>
          <p:cNvSpPr txBox="1"/>
          <p:nvPr/>
        </p:nvSpPr>
        <p:spPr>
          <a:xfrm>
            <a:off x="2933700" y="1365718"/>
            <a:ext cx="278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= 1000 – Position</a:t>
            </a:r>
          </a:p>
          <a:p>
            <a:r>
              <a:rPr lang="en-US" dirty="0">
                <a:solidFill>
                  <a:srgbClr val="FF0000"/>
                </a:solidFill>
              </a:rPr>
              <a:t>PID = +/-  0 to 30</a:t>
            </a:r>
          </a:p>
          <a:p>
            <a:r>
              <a:rPr lang="en-US" dirty="0">
                <a:solidFill>
                  <a:srgbClr val="00B050"/>
                </a:solidFill>
              </a:rPr>
              <a:t>Servo = Level X – PID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B3B6D3-8456-F241-A214-637827923502}"/>
              </a:ext>
            </a:extLst>
          </p:cNvPr>
          <p:cNvSpPr txBox="1"/>
          <p:nvPr/>
        </p:nvSpPr>
        <p:spPr>
          <a:xfrm>
            <a:off x="342900" y="3938577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Servo = Level X + </a:t>
            </a:r>
            <a:r>
              <a:rPr lang="en-US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E37F0-F5CE-69E3-BB63-5DFB2B8278AD}"/>
              </a:ext>
            </a:extLst>
          </p:cNvPr>
          <p:cNvSpPr txBox="1"/>
          <p:nvPr/>
        </p:nvSpPr>
        <p:spPr>
          <a:xfrm>
            <a:off x="6732270" y="3559279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Servo = Level X - </a:t>
            </a:r>
            <a:r>
              <a:rPr lang="en-US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52966-0B70-E6C3-CCC0-1509020F21D8}"/>
              </a:ext>
            </a:extLst>
          </p:cNvPr>
          <p:cNvSpPr txBox="1"/>
          <p:nvPr/>
        </p:nvSpPr>
        <p:spPr>
          <a:xfrm>
            <a:off x="3009900" y="59552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Servo = Level Y + </a:t>
            </a:r>
            <a:r>
              <a:rPr lang="en-US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7A6907-9F48-D6E9-15D4-5E3E37F2ECBD}"/>
              </a:ext>
            </a:extLst>
          </p:cNvPr>
          <p:cNvSpPr txBox="1"/>
          <p:nvPr/>
        </p:nvSpPr>
        <p:spPr>
          <a:xfrm>
            <a:off x="3137916" y="273013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Servo = Level Y - </a:t>
            </a:r>
            <a:r>
              <a:rPr lang="en-US" dirty="0">
                <a:solidFill>
                  <a:srgbClr val="FF0000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1850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7B37-ABB9-7F00-3094-75D75636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Tune the PID from there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0BB7B-3694-83CD-F2AA-7EB5D70C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with just </a:t>
            </a:r>
            <a:r>
              <a:rPr lang="en-US" dirty="0" err="1"/>
              <a:t>Kp</a:t>
            </a:r>
            <a:r>
              <a:rPr lang="en-US" dirty="0"/>
              <a:t>, you will likely have lots of oscillations and overshoot</a:t>
            </a:r>
          </a:p>
          <a:p>
            <a:r>
              <a:rPr lang="en-US" dirty="0"/>
              <a:t>Play with greater and lesser </a:t>
            </a:r>
            <a:r>
              <a:rPr lang="en-US" dirty="0" err="1"/>
              <a:t>Kp</a:t>
            </a:r>
            <a:r>
              <a:rPr lang="en-US" dirty="0"/>
              <a:t> to see it either never gives max table movement or it gives max movement before you get to the edge</a:t>
            </a:r>
          </a:p>
          <a:p>
            <a:r>
              <a:rPr lang="en-US" dirty="0"/>
              <a:t>The center should always be level</a:t>
            </a:r>
          </a:p>
          <a:p>
            <a:r>
              <a:rPr lang="en-US" dirty="0"/>
              <a:t>Then add in some </a:t>
            </a:r>
            <a:r>
              <a:rPr lang="en-US" dirty="0" err="1"/>
              <a:t>Kd</a:t>
            </a:r>
            <a:r>
              <a:rPr lang="en-US" dirty="0"/>
              <a:t> 0.002 to 0.006 and see how it affects the oscillations, may reduce the </a:t>
            </a:r>
            <a:r>
              <a:rPr lang="en-US" dirty="0" err="1"/>
              <a:t>Kp</a:t>
            </a:r>
            <a:r>
              <a:rPr lang="en-US" dirty="0"/>
              <a:t> or increase it</a:t>
            </a:r>
          </a:p>
          <a:p>
            <a:r>
              <a:rPr lang="en-US" dirty="0"/>
              <a:t>Play with </a:t>
            </a:r>
            <a:r>
              <a:rPr lang="en-US" dirty="0" err="1"/>
              <a:t>Kp</a:t>
            </a:r>
            <a:r>
              <a:rPr lang="en-US" dirty="0"/>
              <a:t> and </a:t>
            </a:r>
            <a:r>
              <a:rPr lang="en-US" dirty="0" err="1"/>
              <a:t>Kd</a:t>
            </a:r>
            <a:r>
              <a:rPr lang="en-US" dirty="0"/>
              <a:t> till it’s stable but able to catch giving the ball a push toward the edge or a roll on test.</a:t>
            </a:r>
          </a:p>
          <a:p>
            <a:r>
              <a:rPr lang="en-US" dirty="0"/>
              <a:t>Finally add in a small amount of Ki,  ~0.0001 and see if it corrects to the actual center</a:t>
            </a:r>
          </a:p>
        </p:txBody>
      </p:sp>
    </p:spTree>
    <p:extLst>
      <p:ext uri="{BB962C8B-B14F-4D97-AF65-F5344CB8AC3E}">
        <p14:creationId xmlns:p14="http://schemas.microsoft.com/office/powerpoint/2010/main" val="74439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2C93-4CBA-C7AB-7B7B-3D84C1AE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Things to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B691-F34A-7A3C-72A3-96C7A97F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the PID returns to a float</a:t>
            </a:r>
          </a:p>
          <a:p>
            <a:r>
              <a:rPr lang="en-US" dirty="0"/>
              <a:t>Check to be sure you are not using unit16_t or unsigned int where you need a signed result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22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039083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660</TotalTime>
  <Words>643</Words>
  <Application>Microsoft Office PowerPoint</Application>
  <PresentationFormat>On-screen Show (4:3)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Clarity</vt:lpstr>
      <vt:lpstr>EE 4583 Micro 2</vt:lpstr>
      <vt:lpstr>Cover Key Points of the Tilt Code</vt:lpstr>
      <vt:lpstr>PowerPoint Presentation</vt:lpstr>
      <vt:lpstr>Change in Properties  (Diff system)</vt:lpstr>
      <vt:lpstr>Mapping</vt:lpstr>
      <vt:lpstr>Servo Commands</vt:lpstr>
      <vt:lpstr>Using Kp Gain Calculate Max Servo</vt:lpstr>
      <vt:lpstr>Calculate the kp gain to give the max</vt:lpstr>
      <vt:lpstr>Then Tune the PID from there</vt:lpstr>
      <vt:lpstr>Things to check</vt:lpstr>
      <vt:lpstr>Questions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 4583 Micro 2</dc:title>
  <dc:creator>Paul</dc:creator>
  <cp:lastModifiedBy>Paul Morton</cp:lastModifiedBy>
  <cp:revision>39</cp:revision>
  <dcterms:created xsi:type="dcterms:W3CDTF">2014-01-14T12:22:39Z</dcterms:created>
  <dcterms:modified xsi:type="dcterms:W3CDTF">2023-03-20T02:42:03Z</dcterms:modified>
</cp:coreProperties>
</file>